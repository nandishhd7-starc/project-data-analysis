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2" r:id="rId2"/>
  </p:sldMasterIdLst>
  <p:notesMasterIdLst>
    <p:notesMasterId r:id="rId33"/>
  </p:notesMasterIdLst>
  <p:sldIdLst>
    <p:sldId id="267" r:id="rId3"/>
    <p:sldId id="272" r:id="rId4"/>
    <p:sldId id="266" r:id="rId5"/>
    <p:sldId id="268" r:id="rId6"/>
    <p:sldId id="287" r:id="rId7"/>
    <p:sldId id="276" r:id="rId8"/>
    <p:sldId id="277" r:id="rId9"/>
    <p:sldId id="280" r:id="rId10"/>
    <p:sldId id="283" r:id="rId11"/>
    <p:sldId id="285" r:id="rId12"/>
    <p:sldId id="288" r:id="rId13"/>
    <p:sldId id="289" r:id="rId14"/>
    <p:sldId id="300" r:id="rId15"/>
    <p:sldId id="270" r:id="rId16"/>
    <p:sldId id="290" r:id="rId17"/>
    <p:sldId id="291" r:id="rId18"/>
    <p:sldId id="294" r:id="rId19"/>
    <p:sldId id="293" r:id="rId20"/>
    <p:sldId id="295" r:id="rId21"/>
    <p:sldId id="296" r:id="rId22"/>
    <p:sldId id="297" r:id="rId23"/>
    <p:sldId id="301" r:id="rId24"/>
    <p:sldId id="302" r:id="rId25"/>
    <p:sldId id="303" r:id="rId26"/>
    <p:sldId id="304" r:id="rId27"/>
    <p:sldId id="305" r:id="rId28"/>
    <p:sldId id="308" r:id="rId29"/>
    <p:sldId id="307" r:id="rId30"/>
    <p:sldId id="306" r:id="rId31"/>
    <p:sldId id="309" r:id="rId32"/>
  </p:sldIdLst>
  <p:sldSz cx="12192000" cy="6858000"/>
  <p:notesSz cx="6858000" cy="12192000"/>
  <p:embeddedFontLst>
    <p:embeddedFont>
      <p:font typeface="Arial Black" panose="020B0A04020102020204" pitchFamily="34" charset="0"/>
      <p:bold r:id="rId34"/>
    </p:embeddedFont>
    <p:embeddedFont>
      <p:font typeface="Bell MT" panose="02020503060305020303" pitchFamily="18" charset="0"/>
      <p:regular r:id="rId35"/>
      <p:bold r:id="rId36"/>
      <p:italic r:id="rId37"/>
    </p:embeddedFont>
    <p:embeddedFont>
      <p:font typeface="Bodoni MT" panose="02070603080606020203" pitchFamily="18" charset="0"/>
      <p:regular r:id="rId38"/>
      <p:bold r:id="rId39"/>
      <p:italic r:id="rId40"/>
      <p:boldItalic r:id="rId41"/>
    </p:embeddedFont>
    <p:embeddedFont>
      <p:font typeface="Constantia" panose="02030602050306030303" pitchFamily="18" charset="0"/>
      <p:regular r:id="rId42"/>
      <p:bold r:id="rId43"/>
      <p:italic r:id="rId44"/>
      <p:boldItalic r:id="rId45"/>
    </p:embeddedFont>
    <p:embeddedFont>
      <p:font typeface="Georgia" panose="02040502050405020303" pitchFamily="18" charset="0"/>
      <p:regular r:id="rId46"/>
      <p:bold r:id="rId47"/>
      <p:italic r:id="rId48"/>
      <p:boldItalic r:id="rId4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8B80"/>
    <a:srgbClr val="CAC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44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25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6.fntdata"/><Relationship Id="rId21" Type="http://schemas.openxmlformats.org/officeDocument/2006/relationships/slide" Target="slides/slide19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1.fntdata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F070-61BD-4658-809E-A6E5C837791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3A6F3-E181-427F-A4EE-B001A45BA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F070-61BD-4658-809E-A6E5C837791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3A6F3-E181-427F-A4EE-B001A45BA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F070-61BD-4658-809E-A6E5C837791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3A6F3-E181-427F-A4EE-B001A45BA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F070-61BD-4658-809E-A6E5C837791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3A6F3-E181-427F-A4EE-B001A45BA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F070-61BD-4658-809E-A6E5C837791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3A6F3-E181-427F-A4EE-B001A45BA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F070-61BD-4658-809E-A6E5C837791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3A6F3-E181-427F-A4EE-B001A45BA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F070-61BD-4658-809E-A6E5C837791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3A6F3-E181-427F-A4EE-B001A45BA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F070-61BD-4658-809E-A6E5C837791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3A6F3-E181-427F-A4EE-B001A45BA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F070-61BD-4658-809E-A6E5C837791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3A6F3-E181-427F-A4EE-B001A45BA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F070-61BD-4658-809E-A6E5C837791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3A6F3-E181-427F-A4EE-B001A45BA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F070-61BD-4658-809E-A6E5C837791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3A6F3-E181-427F-A4EE-B001A45BA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9F070-61BD-4658-809E-A6E5C837791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3A6F3-E181-427F-A4EE-B001A45BABC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Brus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993" y="0"/>
            <a:ext cx="12192000" cy="68580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067" y="867655"/>
            <a:ext cx="6295729" cy="5122591"/>
          </a:xfrm>
          <a:prstGeom prst="rect">
            <a:avLst/>
          </a:prstGeom>
          <a:effectLst/>
        </p:spPr>
      </p:pic>
      <p:sp>
        <p:nvSpPr>
          <p:cNvPr id="4" name="Text 0"/>
          <p:cNvSpPr/>
          <p:nvPr/>
        </p:nvSpPr>
        <p:spPr>
          <a:xfrm>
            <a:off x="661474" y="519807"/>
            <a:ext cx="4759611" cy="45037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IN" sz="7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Bell MT" panose="02020503060305020303" pitchFamily="18" charset="0"/>
              </a:rPr>
              <a:t>B</a:t>
            </a:r>
            <a:r>
              <a:rPr lang="en-US" sz="7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Bell MT" panose="02020503060305020303" pitchFamily="18" charset="0"/>
              </a:rPr>
              <a:t>anking Data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7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Bell MT" panose="02020503060305020303" pitchFamily="18" charset="0"/>
              </a:rPr>
              <a:t>Analytics</a:t>
            </a:r>
          </a:p>
        </p:txBody>
      </p:sp>
      <p:sp>
        <p:nvSpPr>
          <p:cNvPr id="5" name="Text 1"/>
          <p:cNvSpPr/>
          <p:nvPr/>
        </p:nvSpPr>
        <p:spPr>
          <a:xfrm>
            <a:off x="564204" y="4416357"/>
            <a:ext cx="3549780" cy="15549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  <a:ea typeface="Nobile" panose="020B0604020202020204" pitchFamily="34" charset="-122"/>
                <a:cs typeface="Nobile" panose="020B0604020202020204" pitchFamily="34" charset="-120"/>
              </a:rPr>
              <a:t>A systematic approach to identify, analyze, and resolve issues effectively</a:t>
            </a:r>
            <a:endParaRPr lang="en-US" sz="20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>
            <a:glow>
              <a:schemeClr val="bg2">
                <a:alpha val="0"/>
              </a:schemeClr>
            </a:glow>
          </a:effectLst>
        </p:spPr>
      </p:pic>
      <p:sp>
        <p:nvSpPr>
          <p:cNvPr id="20" name="Shape 1"/>
          <p:cNvSpPr/>
          <p:nvPr/>
        </p:nvSpPr>
        <p:spPr>
          <a:xfrm>
            <a:off x="369788" y="858646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095828" y="283541"/>
            <a:ext cx="6172200" cy="545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IN" sz="3200" b="1" dirty="0">
                <a:solidFill>
                  <a:srgbClr val="000000"/>
                </a:solidFill>
                <a:latin typeface="Bell MT" panose="02020503060305020303" pitchFamily="18" charset="0"/>
              </a:rPr>
              <a:t>Index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9199" y="1000521"/>
            <a:ext cx="6172200" cy="5026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Intro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Data Overview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Objectives-KPIs  (2 data KPI)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Process  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Analysis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Recommendations and Insights 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Conclusion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Challenges and learning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Dashboard/SQL report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>
            <a:glow>
              <a:schemeClr val="bg2">
                <a:alpha val="0"/>
              </a:schemeClr>
            </a:glow>
          </a:effectLst>
        </p:spPr>
      </p:pic>
      <p:sp>
        <p:nvSpPr>
          <p:cNvPr id="18" name="TextBox 17"/>
          <p:cNvSpPr txBox="1"/>
          <p:nvPr/>
        </p:nvSpPr>
        <p:spPr>
          <a:xfrm>
            <a:off x="1381328" y="1157633"/>
            <a:ext cx="9601200" cy="4439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Banking Data Analysis Project</a:t>
            </a:r>
          </a:p>
          <a:p>
            <a:endParaRPr lang="en-US" b="1" dirty="0">
              <a:solidFill>
                <a:schemeClr val="bg1"/>
              </a:solidFill>
              <a:latin typeface="Bell MT" panose="02020503060305020303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This project focuses on analyzing banking loan and transaction data to understand financial performance and customer activity.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We worked with two major areas of banking data: 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Loan Portfolio Analysis 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Debit &amp; Credit Transaction Analysis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The project covers the complete data analytics process, from data preparation and SQL analysis to dashboard creation and visualization.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We used Excel, SQL, Tableau, and Power BI to analyze the data and present meaningful insights.</a:t>
            </a:r>
          </a:p>
        </p:txBody>
      </p:sp>
      <p:sp>
        <p:nvSpPr>
          <p:cNvPr id="20" name="Shape 1"/>
          <p:cNvSpPr/>
          <p:nvPr/>
        </p:nvSpPr>
        <p:spPr>
          <a:xfrm>
            <a:off x="369788" y="858646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095828" y="283541"/>
            <a:ext cx="6172200" cy="56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IN" sz="3200" b="1" dirty="0">
                <a:solidFill>
                  <a:srgbClr val="000000"/>
                </a:solidFill>
                <a:latin typeface="Bell MT" panose="02020503060305020303" pitchFamily="18" charset="0"/>
              </a:rPr>
              <a:t>I</a:t>
            </a:r>
            <a:r>
              <a:rPr lang="en-US" sz="3200" b="1" dirty="0">
                <a:solidFill>
                  <a:srgbClr val="000000"/>
                </a:solidFill>
                <a:latin typeface="Bell MT" panose="02020503060305020303" pitchFamily="18" charset="0"/>
              </a:rPr>
              <a:t>ntroduction</a:t>
            </a:r>
            <a:endParaRPr lang="en-US" sz="32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" y="12380"/>
            <a:ext cx="12192000" cy="6858000"/>
          </a:xfrm>
          <a:prstGeom prst="rect">
            <a:avLst/>
          </a:prstGeom>
          <a:solidFill>
            <a:schemeClr val="bg1"/>
          </a:solidFill>
          <a:effectLst>
            <a:glow>
              <a:schemeClr val="bg2">
                <a:alpha val="0"/>
              </a:schemeClr>
            </a:glow>
          </a:effectLst>
        </p:spPr>
      </p:pic>
      <p:sp>
        <p:nvSpPr>
          <p:cNvPr id="18" name="TextBox 17"/>
          <p:cNvSpPr txBox="1"/>
          <p:nvPr/>
        </p:nvSpPr>
        <p:spPr>
          <a:xfrm>
            <a:off x="535158" y="1072696"/>
            <a:ext cx="506926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Loan Dataset</a:t>
            </a:r>
          </a:p>
          <a:p>
            <a:pPr lvl="0"/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loan and customer-related information </a:t>
            </a:r>
          </a:p>
          <a:p>
            <a:pPr lvl="0"/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Includes fields such 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Loan / Account ID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Client information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Funded Amount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Interest and Collection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Loan Status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Loan Grade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State &amp; Branch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Disbursement Date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Default &amp; Delinquency indicators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Product Group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Loan Maturity</a:t>
            </a:r>
          </a:p>
          <a:p>
            <a:endParaRPr lang="en-US" sz="1800" dirty="0">
              <a:solidFill>
                <a:schemeClr val="bg1"/>
              </a:solidFill>
              <a:latin typeface="Bell MT" panose="020205030603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369788" y="700821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095828" y="128647"/>
            <a:ext cx="6172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Bell MT" panose="02020503060305020303" pitchFamily="18" charset="0"/>
              </a:rPr>
              <a:t>Data Overview</a:t>
            </a:r>
          </a:p>
        </p:txBody>
      </p:sp>
      <p:pic>
        <p:nvPicPr>
          <p:cNvPr id="2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2251" y="804510"/>
            <a:ext cx="5339820" cy="4373438"/>
          </a:xfrm>
          <a:prstGeom prst="rect">
            <a:avLst/>
          </a:prstGeom>
        </p:spPr>
      </p:pic>
      <p:pic>
        <p:nvPicPr>
          <p:cNvPr id="7" name="Image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4766" y="792450"/>
            <a:ext cx="5339919" cy="43482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4877" y="973113"/>
            <a:ext cx="4980230" cy="3656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2. Debit &amp; Credit Transaction Dataset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Contains banking transaction information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Includes fields such as: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Account / Transaction information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Transaction Type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Transaction Amount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Transaction Date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Branch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Credit &amp; Debit 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196" y="5043964"/>
            <a:ext cx="11516125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u="sng" dirty="0">
                <a:solidFill>
                  <a:schemeClr val="bg1"/>
                </a:solidFill>
                <a:latin typeface="Bell MT" panose="02020503060305020303" pitchFamily="18" charset="0"/>
              </a:rPr>
              <a:t>Data Preparation &amp; Connection</a:t>
            </a:r>
          </a:p>
          <a:p>
            <a:pPr lvl="0" algn="ctr"/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Data was prepared and analyzed using </a:t>
            </a:r>
            <a:r>
              <a:rPr lang="en-US" sz="1600" b="1" dirty="0">
                <a:solidFill>
                  <a:schemeClr val="bg1"/>
                </a:solidFill>
                <a:latin typeface="Bell MT" panose="02020503060305020303" pitchFamily="18" charset="0"/>
              </a:rPr>
              <a:t>Excel and MySQL/SQL</a:t>
            </a:r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. </a:t>
            </a:r>
          </a:p>
          <a:p>
            <a:pPr lvl="0" algn="ctr"/>
            <a:r>
              <a:rPr lang="en-US" sz="1600" b="1" dirty="0">
                <a:solidFill>
                  <a:schemeClr val="bg1"/>
                </a:solidFill>
                <a:latin typeface="Bell MT" panose="02020503060305020303" pitchFamily="18" charset="0"/>
              </a:rPr>
              <a:t>Tableau</a:t>
            </a:r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 was used for data visualization and dashboard creation. </a:t>
            </a:r>
          </a:p>
          <a:p>
            <a:pPr lvl="0" algn="ctr"/>
            <a:r>
              <a:rPr lang="en-US" sz="1600" b="1" dirty="0">
                <a:solidFill>
                  <a:schemeClr val="bg1"/>
                </a:solidFill>
                <a:latin typeface="Bell MT" panose="02020503060305020303" pitchFamily="18" charset="0"/>
              </a:rPr>
              <a:t>Power BI</a:t>
            </a:r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 was connected to the MySQL database using </a:t>
            </a:r>
            <a:r>
              <a:rPr lang="en-US" sz="1600" b="1" dirty="0">
                <a:solidFill>
                  <a:schemeClr val="bg1"/>
                </a:solidFill>
                <a:latin typeface="Bell MT" panose="02020503060305020303" pitchFamily="18" charset="0"/>
              </a:rPr>
              <a:t>ODBC</a:t>
            </a:r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. </a:t>
            </a:r>
          </a:p>
          <a:p>
            <a:pPr lvl="0" algn="ctr"/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Final analysis and dashboards were developed across </a:t>
            </a:r>
            <a:r>
              <a:rPr lang="en-US" sz="1600" b="1" dirty="0">
                <a:solidFill>
                  <a:schemeClr val="bg1"/>
                </a:solidFill>
                <a:latin typeface="Bell MT" panose="02020503060305020303" pitchFamily="18" charset="0"/>
              </a:rPr>
              <a:t>Excel, SQL, Tableau, and Power BI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.</a:t>
            </a:r>
          </a:p>
          <a:p>
            <a:pPr algn="ctr">
              <a:buNone/>
            </a:pPr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>
            <a:glow>
              <a:schemeClr val="bg2">
                <a:alpha val="0"/>
              </a:schemeClr>
            </a:glow>
          </a:effectLst>
        </p:spPr>
      </p:pic>
      <p:sp>
        <p:nvSpPr>
          <p:cNvPr id="20" name="Shape 1"/>
          <p:cNvSpPr/>
          <p:nvPr/>
        </p:nvSpPr>
        <p:spPr>
          <a:xfrm>
            <a:off x="369788" y="858646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095828" y="283541"/>
            <a:ext cx="6172200" cy="5454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IN" sz="3200" b="1" dirty="0">
                <a:latin typeface="Bell MT" panose="02020503060305020303" pitchFamily="18" charset="0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4314" y="1166842"/>
            <a:ext cx="1066800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>
              <a:buFont typeface="Arial" panose="020B0604020202020204"/>
              <a:buChar char="•"/>
            </a:pPr>
            <a:r>
              <a:rPr lang="en-US" sz="3200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Measure the total value and volume of loans issued.</a:t>
            </a:r>
            <a:endParaRPr lang="en-US" dirty="0">
              <a:solidFill>
                <a:schemeClr val="bg1"/>
              </a:solidFill>
              <a:latin typeface="Bell MT" panose="02020503060305020303"/>
            </a:endParaRPr>
          </a:p>
          <a:p>
            <a:pPr marL="457200" indent="-457200">
              <a:buFont typeface="Arial" panose="020B0604020202020204"/>
              <a:buChar char="•"/>
            </a:pPr>
            <a:r>
              <a:rPr lang="en-US" sz="3200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Understand collections, interest earned and fee-based revenue.</a:t>
            </a:r>
          </a:p>
          <a:p>
            <a:pPr marL="457200" indent="-457200">
              <a:buFont typeface="Arial" panose="020B0604020202020204"/>
              <a:buChar char="•"/>
            </a:pPr>
            <a:r>
              <a:rPr lang="en-US" sz="3200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Compare credit inflows with debit outflows and calculate net transaction movement.</a:t>
            </a:r>
          </a:p>
          <a:p>
            <a:pPr marL="457200" indent="-457200">
              <a:buFont typeface="Arial" panose="020B0604020202020204"/>
              <a:buChar char="•"/>
            </a:pPr>
            <a:r>
              <a:rPr lang="en-US" sz="3200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Study Transaction activity across accounts, dates, branches and states.</a:t>
            </a:r>
          </a:p>
          <a:p>
            <a:pPr marL="457200" indent="-457200">
              <a:buFont typeface="Arial" panose="020B0604020202020204"/>
              <a:buChar char="•"/>
            </a:pPr>
            <a:r>
              <a:rPr lang="en-US" sz="3200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Present key findings through KPI cards, charts and filters for easier exploration.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>
            <a:glow>
              <a:schemeClr val="bg2">
                <a:alpha val="0"/>
              </a:schemeClr>
            </a:glow>
          </a:effectLst>
        </p:spPr>
      </p:pic>
      <p:sp>
        <p:nvSpPr>
          <p:cNvPr id="20" name="Shape 1"/>
          <p:cNvSpPr/>
          <p:nvPr/>
        </p:nvSpPr>
        <p:spPr>
          <a:xfrm>
            <a:off x="369788" y="858646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095828" y="283541"/>
            <a:ext cx="6172200" cy="5454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lang="en-IN" sz="3200" b="1" dirty="0">
                <a:latin typeface="Bell MT" panose="02020503060305020303" pitchFamily="18" charset="0"/>
              </a:rPr>
              <a:t>Loan Analytics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220" y="1150775"/>
            <a:ext cx="11113698" cy="54784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Total Loan Amount Funded</a:t>
            </a:r>
            <a:r>
              <a:rPr lang="en-US" b="1" u="sng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 </a:t>
            </a:r>
            <a:r>
              <a:rPr lang="en-US" b="1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-    </a:t>
            </a:r>
          </a:p>
          <a:p>
            <a:r>
              <a:rPr lang="en-US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                                                   </a:t>
            </a:r>
            <a:r>
              <a:rPr lang="en-US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This KPI shows the total amount of loans disbursed by the bank to customers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                                                    </a:t>
            </a:r>
            <a:r>
              <a:rPr lang="en-US" sz="2000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Sum of funded loan amounts; shows the overall value disbursed.</a:t>
            </a:r>
          </a:p>
          <a:p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r>
              <a:rPr lang="en-US" sz="2000" b="1" u="sng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Total Loans- </a:t>
            </a:r>
            <a:endParaRPr lang="en-US" sz="2000" b="1" u="sng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Times New Roman" panose="02020603050405020304"/>
            </a:endParaRPr>
          </a:p>
          <a:p>
            <a:r>
              <a:rPr lang="en-US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                                                </a:t>
            </a:r>
            <a:r>
              <a:rPr lang="en-US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This KPI shows the total number of loans issued by the bank to customers</a:t>
            </a:r>
            <a:endParaRPr lang="en-US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                                                     </a:t>
            </a:r>
            <a:r>
              <a:rPr lang="en-US" sz="2000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Count of distinct loan/account records; show loan volume.</a:t>
            </a:r>
            <a:r>
              <a:rPr lang="en-US" dirty="0">
                <a:ea typeface="Calibri" panose="020F0502020204030204"/>
                <a:cs typeface="Calibri" panose="020F0502020204030204"/>
              </a:rPr>
              <a:t>  </a:t>
            </a: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sz="2000" b="1" u="sng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Total Collection </a:t>
            </a:r>
            <a:r>
              <a:rPr lang="en-US" sz="2000" b="1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-</a:t>
            </a:r>
          </a:p>
          <a:p>
            <a:endParaRPr lang="en-US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                                                 </a:t>
            </a:r>
            <a:r>
              <a:rPr lang="en-US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This KPI shows the total amount collected by the bank from borrowers</a:t>
            </a:r>
            <a:endParaRPr lang="en-US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                                                  Sum of total payments received; tracks repayment collections.</a:t>
            </a:r>
          </a:p>
          <a:p>
            <a:endParaRPr lang="en-US" sz="20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r>
              <a:rPr lang="en-US" sz="2000" b="1" u="sng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Total Interest-</a:t>
            </a:r>
          </a:p>
          <a:p>
            <a:r>
              <a:rPr lang="en-US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                  </a:t>
            </a:r>
          </a:p>
          <a:p>
            <a:r>
              <a:rPr lang="en-US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                                                 </a:t>
            </a:r>
            <a:r>
              <a:rPr lang="en-US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This KPI shows the total interest earned by the bank from loans</a:t>
            </a:r>
            <a:r>
              <a:rPr lang="en-US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                             </a:t>
            </a:r>
          </a:p>
          <a:p>
            <a:r>
              <a:rPr lang="en-US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                                                  Sum of interest received; indicates interest income in the dataset</a:t>
            </a: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727" y="1657466"/>
            <a:ext cx="1578094" cy="72911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176" y="2146004"/>
            <a:ext cx="1855038" cy="1494527"/>
          </a:xfrm>
          <a:prstGeom prst="rect">
            <a:avLst/>
          </a:prstGeom>
        </p:spPr>
      </p:pic>
      <p:pic>
        <p:nvPicPr>
          <p:cNvPr id="4" name="Picture 3" descr="A green rectangle with black text and numbers&#10;&#10;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4694" y="5585235"/>
            <a:ext cx="1573781" cy="772243"/>
          </a:xfrm>
          <a:prstGeom prst="rect">
            <a:avLst/>
          </a:prstGeom>
        </p:spPr>
      </p:pic>
      <p:pic>
        <p:nvPicPr>
          <p:cNvPr id="5" name="Picture 4" descr="A green rectangle with black numbers and black text&#10;&#10;AI-generated content may be incorrect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4694" y="4129069"/>
            <a:ext cx="1573782" cy="8390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>
            <a:glow>
              <a:schemeClr val="bg2">
                <a:alpha val="0"/>
              </a:schemeClr>
            </a:glow>
          </a:effectLst>
        </p:spPr>
      </p:pic>
      <p:sp>
        <p:nvSpPr>
          <p:cNvPr id="20" name="Shape 1"/>
          <p:cNvSpPr/>
          <p:nvPr/>
        </p:nvSpPr>
        <p:spPr>
          <a:xfrm>
            <a:off x="369788" y="858646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095828" y="283541"/>
            <a:ext cx="6172200" cy="5454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lang="en-IN" sz="3200" b="1" dirty="0">
                <a:latin typeface="Bell MT" panose="02020503060305020303" pitchFamily="18" charset="0"/>
              </a:rPr>
              <a:t>Loan Analytics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489" y="908340"/>
            <a:ext cx="11411339" cy="53860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b="1" u="sng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Default Loan Rate - </a:t>
            </a:r>
            <a:r>
              <a:rPr lang="en-US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   </a:t>
            </a:r>
          </a:p>
          <a:p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  <a:ea typeface="Calibri" panose="020F0502020204030204"/>
                <a:cs typeface="Calibri" panose="020F0502020204030204"/>
              </a:rPr>
              <a:t>                                                 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  <a:ea typeface="+mn-lt"/>
                <a:cs typeface="+mn-lt"/>
              </a:rPr>
              <a:t>This KPI shows the percentage of loans that have defaulted or failed to meet </a:t>
            </a:r>
          </a:p>
          <a:p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  <a:ea typeface="+mn-lt"/>
                <a:cs typeface="+mn-lt"/>
              </a:rPr>
              <a:t>                                                  repayment obligations. It helps us understand the bank’s loan risk and credit quality.</a:t>
            </a:r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r>
              <a:rPr lang="en-US" sz="2000" b="1" u="sng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Delinquent Loan Rate -</a:t>
            </a:r>
            <a:endParaRPr lang="en-US" sz="2000" b="1" u="sng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Times New Roman" panose="02020603050405020304"/>
            </a:endParaRPr>
          </a:p>
          <a:p>
            <a:r>
              <a:rPr lang="en-US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                                             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  <a:ea typeface="+mn-lt"/>
                <a:cs typeface="+mn-lt"/>
              </a:rPr>
              <a:t>This KPI shows the percentage of loans with overdue payments. </a:t>
            </a:r>
          </a:p>
          <a:p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  <a:ea typeface="+mn-lt"/>
                <a:cs typeface="+mn-lt"/>
              </a:rPr>
              <a:t>                                                   It helps the bank identify repayment delays and monitor loan performance.</a:t>
            </a:r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endParaRPr lang="en-US" dirty="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sz="2000" b="1" u="sng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r>
              <a:rPr lang="en-US" sz="2000" b="1" u="sng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Delinquent Client Count –</a:t>
            </a:r>
          </a:p>
          <a:p>
            <a:endParaRPr lang="en-US" sz="2000" b="1" u="sng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                                           </a:t>
            </a: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  <a:ea typeface="+mn-lt"/>
                <a:cs typeface="+mn-lt"/>
              </a:rPr>
              <a:t>This KPI shows the total number of customers who have delayed </a:t>
            </a:r>
            <a:endParaRPr lang="en-US" dirty="0">
              <a:solidFill>
                <a:schemeClr val="bg1"/>
              </a:solidFill>
              <a:latin typeface="Bell MT" panose="02020503060305020303" pitchFamily="18" charset="0"/>
              <a:ea typeface="+mn-lt"/>
              <a:cs typeface="+mn-lt"/>
            </a:endParaRPr>
          </a:p>
          <a:p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  <a:ea typeface="+mn-lt"/>
                <a:cs typeface="+mn-lt"/>
              </a:rPr>
              <a:t>                                           their loan payments. It helps the bank identify customers with repayment issues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 dirty="0">
              <a:solidFill>
                <a:schemeClr val="bg1"/>
              </a:solidFill>
              <a:latin typeface="Bell MT" panose="02020503060305020303" pitchFamily="18" charset="0"/>
              <a:ea typeface="+mn-lt"/>
              <a:cs typeface="+mn-lt"/>
            </a:endParaRPr>
          </a:p>
          <a:p>
            <a:r>
              <a:rPr lang="en-US" sz="2000" b="1" u="sng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Default Loan Count -</a:t>
            </a:r>
            <a:endParaRPr lang="en-US" b="1" u="sng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                  </a:t>
            </a:r>
          </a:p>
          <a:p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  <a:ea typeface="Calibri" panose="020F0502020204030204"/>
                <a:cs typeface="Calibri" panose="020F0502020204030204"/>
              </a:rPr>
              <a:t>                                                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  <a:ea typeface="+mn-lt"/>
                <a:cs typeface="+mn-lt"/>
              </a:rPr>
              <a:t>This KPI shows the total number of loans that have defaulted. It helps the bank </a:t>
            </a:r>
          </a:p>
          <a:p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  <a:ea typeface="+mn-lt"/>
                <a:cs typeface="+mn-lt"/>
              </a:rPr>
              <a:t>                                                         identify loan repayment failures and assess credit risk</a:t>
            </a:r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6" name="Picture 5" descr="A green rectangular sign with black text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51" y="3962386"/>
            <a:ext cx="1780637" cy="819150"/>
          </a:xfrm>
          <a:prstGeom prst="rect">
            <a:avLst/>
          </a:prstGeom>
        </p:spPr>
      </p:pic>
      <p:pic>
        <p:nvPicPr>
          <p:cNvPr id="7" name="Picture 6" descr="A green rectangular sign with black text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94" y="5586688"/>
            <a:ext cx="1937328" cy="786441"/>
          </a:xfrm>
          <a:prstGeom prst="rect">
            <a:avLst/>
          </a:prstGeom>
        </p:spPr>
      </p:pic>
      <p:pic>
        <p:nvPicPr>
          <p:cNvPr id="4" name="Picture 3" descr="A green rectangle with black text and numbers&#10;&#10;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19" y="1349392"/>
            <a:ext cx="1760687" cy="704850"/>
          </a:xfrm>
          <a:prstGeom prst="rect">
            <a:avLst/>
          </a:prstGeom>
        </p:spPr>
      </p:pic>
      <p:pic>
        <p:nvPicPr>
          <p:cNvPr id="5" name="Picture 4" descr="A green and black rectangular sign with black text&#10;&#10;AI-generated content may be incorrect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31" y="2495294"/>
            <a:ext cx="1764461" cy="8006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>
            <a:glow>
              <a:schemeClr val="bg2">
                <a:alpha val="0"/>
              </a:schemeClr>
            </a:glow>
          </a:effectLst>
        </p:spPr>
      </p:pic>
      <p:sp>
        <p:nvSpPr>
          <p:cNvPr id="20" name="Shape 1"/>
          <p:cNvSpPr/>
          <p:nvPr/>
        </p:nvSpPr>
        <p:spPr>
          <a:xfrm>
            <a:off x="369788" y="858646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095828" y="283541"/>
            <a:ext cx="6172200" cy="5454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lang="en-IN" sz="3200" b="1" dirty="0">
                <a:latin typeface="Bell MT" panose="02020503060305020303" pitchFamily="18" charset="0"/>
              </a:rPr>
              <a:t>Loan Analytics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975" y="1136398"/>
            <a:ext cx="5564038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2400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                               </a:t>
            </a:r>
            <a:endParaRPr lang="en-US" dirty="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sz="24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endParaRPr lang="en-US" sz="24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endParaRPr lang="en-US" sz="24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                                                 </a:t>
            </a:r>
            <a:endParaRPr lang="en-US" sz="20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45350" y="954354"/>
            <a:ext cx="5842957" cy="571718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ell MT" panose="02020503060305020303"/>
              </a:rPr>
              <a:t>Branch-Wise Loan</a:t>
            </a:r>
            <a:r>
              <a:rPr lang="en-US" sz="2400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 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                                                                         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b="1" dirty="0">
                <a:solidFill>
                  <a:schemeClr val="bg1"/>
                </a:solidFill>
                <a:latin typeface="Bell MT" panose="02020503060305020303"/>
              </a:rPr>
              <a:t>This analysis shows the total loans distributed by  each branch.</a:t>
            </a:r>
            <a:r>
              <a:rPr lang="en-US" sz="1800" dirty="0">
                <a:solidFill>
                  <a:schemeClr val="bg1"/>
                </a:solidFill>
                <a:latin typeface="Bell MT" panose="02020503060305020303"/>
              </a:rPr>
              <a:t> 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b="1" dirty="0">
                <a:solidFill>
                  <a:schemeClr val="bg1"/>
                </a:solidFill>
                <a:latin typeface="Bell MT" panose="02020503060305020303"/>
              </a:rPr>
              <a:t>It helps compare loan performance across different branches.</a:t>
            </a:r>
            <a:r>
              <a:rPr lang="en-US" sz="1800" dirty="0">
                <a:solidFill>
                  <a:schemeClr val="bg1"/>
                </a:solidFill>
                <a:latin typeface="Bell MT" panose="02020503060305020303"/>
              </a:rPr>
              <a:t> 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b="1" dirty="0">
                <a:solidFill>
                  <a:schemeClr val="bg1"/>
                </a:solidFill>
                <a:latin typeface="Bell MT" panose="02020503060305020303"/>
              </a:rPr>
              <a:t>It also helps identify branches with higher and lower loan distribution.</a:t>
            </a:r>
            <a:endParaRPr lang="en-US" sz="1800" dirty="0">
              <a:solidFill>
                <a:schemeClr val="bg1"/>
              </a:solidFill>
              <a:latin typeface="Bell MT" panose="02020503060305020303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46802" y="970194"/>
            <a:ext cx="5986732" cy="550152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ell MT" panose="02020503060305020303"/>
              </a:rPr>
              <a:t>State-Wise Loan</a:t>
            </a:r>
            <a:endParaRPr lang="en-US" sz="2400" dirty="0"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b="1" dirty="0">
                <a:solidFill>
                  <a:schemeClr val="bg1"/>
                </a:solidFill>
                <a:latin typeface="Bell MT" panose="02020503060305020303"/>
              </a:rPr>
              <a:t>This analysis shows the total number of loans in each state.</a:t>
            </a:r>
            <a:r>
              <a:rPr lang="en-US" sz="1800" dirty="0">
                <a:solidFill>
                  <a:schemeClr val="bg1"/>
                </a:solidFill>
                <a:latin typeface="Bell MT" panose="02020503060305020303"/>
              </a:rPr>
              <a:t>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b="1" dirty="0">
                <a:solidFill>
                  <a:schemeClr val="bg1"/>
                </a:solidFill>
                <a:latin typeface="Bell MT" panose="02020503060305020303"/>
              </a:rPr>
              <a:t>It helps compare loan distribution across different states.</a:t>
            </a:r>
            <a:r>
              <a:rPr lang="en-US" sz="1800" dirty="0">
                <a:solidFill>
                  <a:schemeClr val="bg1"/>
                </a:solidFill>
                <a:latin typeface="Bell MT" panose="02020503060305020303"/>
              </a:rPr>
              <a:t>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b="1" dirty="0">
                <a:solidFill>
                  <a:schemeClr val="bg1"/>
                </a:solidFill>
                <a:latin typeface="Bell MT" panose="02020503060305020303"/>
              </a:rPr>
              <a:t>It helps identify states with higher and lower loan activity</a:t>
            </a:r>
            <a:endParaRPr lang="en-US" sz="1800" dirty="0">
              <a:solidFill>
                <a:schemeClr val="bg1"/>
              </a:solidFill>
              <a:latin typeface="Bell MT" panose="02020503060305020303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064" y="1599975"/>
            <a:ext cx="5869374" cy="34316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968" y="1599975"/>
            <a:ext cx="5360597" cy="33499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>
            <a:glow>
              <a:schemeClr val="bg2">
                <a:alpha val="0"/>
              </a:schemeClr>
            </a:glow>
          </a:effectLst>
        </p:spPr>
      </p:pic>
      <p:sp>
        <p:nvSpPr>
          <p:cNvPr id="20" name="Shape 1"/>
          <p:cNvSpPr/>
          <p:nvPr/>
        </p:nvSpPr>
        <p:spPr>
          <a:xfrm>
            <a:off x="369788" y="858646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095828" y="283541"/>
            <a:ext cx="6172200" cy="5454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lang="en-IN" sz="3200" b="1" dirty="0">
                <a:latin typeface="Bell MT" panose="02020503060305020303" pitchFamily="18" charset="0"/>
              </a:rPr>
              <a:t>Loan Analytics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975" y="1136398"/>
            <a:ext cx="523336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                                                 </a:t>
            </a:r>
            <a:endParaRPr lang="en-US" sz="20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8754" y="1001048"/>
            <a:ext cx="5727938" cy="557341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Product-Wise Loans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                                                                         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b="1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b="1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b="1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This analysis shows the distribution of loans across different loan products.</a:t>
            </a:r>
            <a:r>
              <a:rPr lang="en-US" sz="1800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b="1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It helps identify which loan products have higher demand.</a:t>
            </a:r>
            <a:r>
              <a:rPr lang="en-US" sz="1800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b="1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It helps compare loan activity across different products.</a:t>
            </a:r>
            <a:endParaRPr lang="en-US" sz="18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00313" y="999111"/>
            <a:ext cx="5857336" cy="557341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ell MT" panose="02020503060305020303"/>
              </a:rPr>
              <a:t>Loan Status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Bell MT" panose="02020503060305020303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latin typeface="Bell MT" panose="02020503060305020303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latin typeface="Bell MT" panose="02020503060305020303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r>
              <a:rPr lang="en-US" sz="1800" b="1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This analysis shows the distribution of loans based on their current status.</a:t>
            </a:r>
            <a:r>
              <a:rPr lang="en-US" sz="1800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 </a:t>
            </a:r>
            <a:endParaRPr lang="en-US" sz="18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r>
              <a:rPr lang="en-US" sz="1800" b="1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It helps understand how many loans are Current, Delinquent, or Default.</a:t>
            </a:r>
            <a:r>
              <a:rPr lang="en-US" sz="1800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 </a:t>
            </a:r>
            <a:endParaRPr lang="en-US" sz="18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r>
              <a:rPr lang="en-US" sz="1800" b="1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It helps monitor the overall repayment and loan performance.</a:t>
            </a:r>
            <a:endParaRPr lang="en-US" sz="18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14" y="1567762"/>
            <a:ext cx="5362572" cy="31761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943" y="1567762"/>
            <a:ext cx="5712303" cy="31705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>
            <a:glow>
              <a:schemeClr val="bg2">
                <a:alpha val="0"/>
              </a:schemeClr>
            </a:glow>
          </a:effectLst>
        </p:spPr>
      </p:pic>
      <p:sp>
        <p:nvSpPr>
          <p:cNvPr id="20" name="Shape 1"/>
          <p:cNvSpPr/>
          <p:nvPr/>
        </p:nvSpPr>
        <p:spPr>
          <a:xfrm>
            <a:off x="369788" y="858646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095828" y="283541"/>
            <a:ext cx="6172200" cy="5454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lang="en-IN" sz="3200" b="1" dirty="0">
                <a:latin typeface="Bell MT" panose="02020503060305020303" pitchFamily="18" charset="0"/>
              </a:rPr>
              <a:t>Loan Analytics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975" y="1136398"/>
            <a:ext cx="523336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                                                 </a:t>
            </a:r>
            <a:endParaRPr lang="en-US" sz="20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476" y="1006118"/>
            <a:ext cx="5727938" cy="54296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Religion-Wise Loans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                                                                         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r>
              <a:rPr lang="en-US" sz="1800" b="1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This analysis shows the distribution of loans across different religious groups.</a:t>
            </a:r>
            <a:r>
              <a:rPr lang="en-US" sz="1800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 </a:t>
            </a:r>
            <a:endParaRPr lang="en-US" sz="18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r>
              <a:rPr lang="en-US" sz="1800" b="1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It helps understand loan distribution among the available categories in the dataset.</a:t>
            </a:r>
            <a:r>
              <a:rPr lang="en-US" sz="1800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 </a:t>
            </a:r>
            <a:endParaRPr lang="en-US" sz="18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r>
              <a:rPr lang="en-US" sz="1800" b="1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It provides a clear comparison of loan counts across these categories</a:t>
            </a:r>
            <a:endParaRPr lang="en-US" sz="18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16859" y="941420"/>
            <a:ext cx="5713563" cy="555903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ell MT" panose="02020503060305020303"/>
              </a:rPr>
              <a:t>Loan Verification Status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Bell MT" panose="02020503060305020303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latin typeface="Bell MT" panose="02020503060305020303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latin typeface="Bell MT" panose="02020503060305020303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r>
              <a:rPr lang="en-US" sz="1800" b="1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This analysis shows the distribution of loans based on their verification status.</a:t>
            </a:r>
            <a:r>
              <a:rPr lang="en-US" sz="1800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 </a:t>
            </a:r>
          </a:p>
          <a:p>
            <a:r>
              <a:rPr lang="en-US" sz="1800" b="1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It helps identify how many loans are Verified, Source Verified, or Not Verified.</a:t>
            </a:r>
            <a:r>
              <a:rPr lang="en-US" sz="1800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 </a:t>
            </a:r>
            <a:endParaRPr lang="en-US" sz="1800" dirty="0">
              <a:solidFill>
                <a:schemeClr val="bg1"/>
              </a:solidFill>
              <a:latin typeface="Bell MT" panose="02020503060305020303"/>
            </a:endParaRPr>
          </a:p>
          <a:p>
            <a:r>
              <a:rPr lang="en-US" sz="1800" b="1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It helps monitor the verification level of loan applications.</a:t>
            </a:r>
            <a:endParaRPr lang="en-US" sz="1800" dirty="0">
              <a:solidFill>
                <a:schemeClr val="bg1"/>
              </a:solidFill>
              <a:latin typeface="Bell MT" panose="02020503060305020303"/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53" y="1446548"/>
            <a:ext cx="5354307" cy="311054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913" y="1372461"/>
            <a:ext cx="5447579" cy="31130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>
            <a:glow>
              <a:schemeClr val="bg2">
                <a:alpha val="0"/>
              </a:schemeClr>
            </a:glow>
          </a:effectLst>
        </p:spPr>
      </p:pic>
      <p:sp>
        <p:nvSpPr>
          <p:cNvPr id="20" name="Shape 1"/>
          <p:cNvSpPr/>
          <p:nvPr/>
        </p:nvSpPr>
        <p:spPr>
          <a:xfrm>
            <a:off x="369788" y="858646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095828" y="283541"/>
            <a:ext cx="6172200" cy="5454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lang="en-IN" sz="3200" b="1" dirty="0">
                <a:latin typeface="Bell MT" panose="02020503060305020303" pitchFamily="18" charset="0"/>
              </a:rPr>
              <a:t>Loan Analytics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975" y="1136398"/>
            <a:ext cx="523336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                                                 </a:t>
            </a:r>
            <a:endParaRPr lang="en-US" sz="20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4208" y="1006031"/>
            <a:ext cx="5727938" cy="571718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Age Group-Wise Loan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                                                                         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 sz="1800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This chart shows the distribution of loans across different age groups. </a:t>
            </a:r>
          </a:p>
          <a:p>
            <a:pPr algn="just"/>
            <a:endParaRPr lang="en-US" sz="2300" dirty="0">
              <a:solidFill>
                <a:schemeClr val="bg1"/>
              </a:solidFill>
              <a:latin typeface="Bell MT" panose="02020503060305020303"/>
              <a:ea typeface="+mn-lt"/>
              <a:cs typeface="+mn-lt"/>
            </a:endParaRPr>
          </a:p>
          <a:p>
            <a:pPr algn="just"/>
            <a:r>
              <a:rPr lang="en-US" sz="2300" b="1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It helps identify which age group has taken the highest number of loans. </a:t>
            </a:r>
          </a:p>
          <a:p>
            <a:pPr algn="just"/>
            <a:r>
              <a:rPr lang="en-US" sz="2300" b="1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This analysis helps banks understand customer borrowing patterns and make better lending decisions.</a:t>
            </a:r>
            <a:endParaRPr lang="en-US" sz="2300" b="1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54229" y="985148"/>
            <a:ext cx="5713563" cy="555903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ell MT" panose="02020503060305020303"/>
              </a:rPr>
              <a:t>Grade –Wise Loan Distribution</a:t>
            </a:r>
            <a:endParaRPr lang="en-US" dirty="0" err="1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 algn="just"/>
            <a:endParaRPr lang="en-US" sz="2000" dirty="0">
              <a:solidFill>
                <a:schemeClr val="bg1"/>
              </a:solidFill>
              <a:latin typeface="Bell MT" panose="02020503060305020303"/>
              <a:ea typeface="+mn-lt"/>
              <a:cs typeface="+mn-lt"/>
            </a:endParaRPr>
          </a:p>
          <a:p>
            <a:pPr algn="just"/>
            <a:r>
              <a:rPr lang="en-US" sz="2100" b="1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This chart shows the distribution of loans across different loan grades. </a:t>
            </a:r>
          </a:p>
          <a:p>
            <a:pPr algn="just"/>
            <a:r>
              <a:rPr lang="en-US" sz="2100" b="1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It helps identify which grade has the highest number of loans. </a:t>
            </a:r>
          </a:p>
          <a:p>
            <a:pPr algn="just"/>
            <a:r>
              <a:rPr lang="en-US" sz="2100" b="1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This analysis helps banks understand borrower risk levels and assess loan distribution.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40" y="1548883"/>
            <a:ext cx="5480469" cy="32669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043" y="1548883"/>
            <a:ext cx="5448480" cy="32659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>
            <a:glow>
              <a:schemeClr val="bg2">
                <a:alpha val="0"/>
              </a:schemeClr>
            </a:glow>
          </a:effectLst>
        </p:spPr>
      </p:pic>
      <p:sp>
        <p:nvSpPr>
          <p:cNvPr id="20" name="Shape 1"/>
          <p:cNvSpPr/>
          <p:nvPr/>
        </p:nvSpPr>
        <p:spPr>
          <a:xfrm>
            <a:off x="369788" y="858646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095828" y="283541"/>
            <a:ext cx="6172200" cy="5454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lang="en-IN" sz="3200" b="1" dirty="0">
                <a:latin typeface="Bell MT" panose="02020503060305020303" pitchFamily="18" charset="0"/>
              </a:rPr>
              <a:t>Loan Analytics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975" y="1136398"/>
            <a:ext cx="523336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                                                 </a:t>
            </a:r>
            <a:endParaRPr lang="en-US" sz="20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3079" y="1006031"/>
            <a:ext cx="5727938" cy="571718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ell MT" panose="02020503060305020303"/>
                <a:ea typeface="Calibri" panose="020F0502020204030204"/>
                <a:cs typeface="Calibri" panose="020F0502020204030204"/>
              </a:rPr>
              <a:t> Loan Maturity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                                                                         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endParaRPr lang="en-US" sz="2100" dirty="0"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US" sz="2100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This chart shows the distribution of loans based on their repayment terms.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US" sz="2100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It compares loans with different maturity periods, such as 36 months and 60 months.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US" sz="2100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This analysis helps banks understand customer repayment preferences and loan duration patterns</a:t>
            </a:r>
            <a:endParaRPr lang="en-US" sz="21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21094" y="1015426"/>
            <a:ext cx="5713563" cy="555903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ell MT" panose="02020503060305020303"/>
              </a:rPr>
              <a:t>Total Disbursed by Year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FFFF"/>
              </a:solidFill>
              <a:latin typeface="Bell MT" panose="02020503060305020303"/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Bell MT" panose="02020503060305020303"/>
              <a:ea typeface="+mn-lt"/>
              <a:cs typeface="+mn-lt"/>
            </a:endParaRPr>
          </a:p>
          <a:p>
            <a:r>
              <a:rPr lang="en-US" sz="2100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This chart shows the total loan amount disbursed in each year. </a:t>
            </a:r>
          </a:p>
          <a:p>
            <a:r>
              <a:rPr lang="en-US" sz="2100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It helps identify yearly changes in loan disbursement. </a:t>
            </a:r>
          </a:p>
          <a:p>
            <a:r>
              <a:rPr lang="en-US" sz="2100" dirty="0">
                <a:solidFill>
                  <a:schemeClr val="bg1"/>
                </a:solidFill>
                <a:latin typeface="Bell MT" panose="02020503060305020303"/>
                <a:ea typeface="+mn-lt"/>
                <a:cs typeface="+mn-lt"/>
              </a:rPr>
              <a:t>This analysis helps banks understand lending trends and monitor loan growth over time.</a:t>
            </a:r>
            <a:endParaRPr lang="en-US" sz="2100" dirty="0">
              <a:solidFill>
                <a:schemeClr val="bg1"/>
              </a:solidFill>
              <a:latin typeface="Bell MT" panose="02020503060305020303"/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55" y="1558506"/>
            <a:ext cx="5484243" cy="30796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4998" y="1559494"/>
            <a:ext cx="5353588" cy="30776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>
            <a:glow>
              <a:schemeClr val="bg2">
                <a:alpha val="0"/>
              </a:schemeClr>
            </a:glow>
          </a:effectLst>
        </p:spPr>
      </p:pic>
      <p:sp>
        <p:nvSpPr>
          <p:cNvPr id="20" name="Shape 1"/>
          <p:cNvSpPr/>
          <p:nvPr/>
        </p:nvSpPr>
        <p:spPr>
          <a:xfrm>
            <a:off x="418872" y="649342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96" y="849457"/>
            <a:ext cx="10972526" cy="152542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0799" y="2563099"/>
            <a:ext cx="4386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u="sng" dirty="0">
                <a:solidFill>
                  <a:schemeClr val="bg1"/>
                </a:solidFill>
                <a:highlight>
                  <a:srgbClr val="008000"/>
                </a:highlight>
                <a:latin typeface="Bodoni MT" panose="02070603080606020203" pitchFamily="18" charset="0"/>
              </a:rPr>
              <a:t>Total Credit Amount: 127.60M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Total money received into accounts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Shows overall inflow across all branches.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808" y="2521529"/>
            <a:ext cx="50185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2</a:t>
            </a:r>
            <a:r>
              <a:rPr lang="en-US" b="1" u="sng" dirty="0">
                <a:solidFill>
                  <a:schemeClr val="bg1"/>
                </a:solidFill>
                <a:latin typeface="Bodoni MT" panose="02070603080606020203" pitchFamily="18" charset="0"/>
              </a:rPr>
              <a:t>. </a:t>
            </a:r>
            <a:r>
              <a:rPr lang="en-US" b="1" u="sng" dirty="0">
                <a:solidFill>
                  <a:schemeClr val="bg1"/>
                </a:solidFill>
                <a:highlight>
                  <a:srgbClr val="008000"/>
                </a:highlight>
                <a:latin typeface="Bodoni MT" panose="02070603080606020203" pitchFamily="18" charset="0"/>
              </a:rPr>
              <a:t>Total Debit Amount: 127.29M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Total money withdrawn or spent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Almost equal to credits, so outflow is well matched with inflow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799" y="3775587"/>
            <a:ext cx="43863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  <a:latin typeface="Bodoni MT" panose="02070603080606020203" pitchFamily="18" charset="0"/>
              </a:rPr>
              <a:t>3. </a:t>
            </a:r>
            <a:r>
              <a:rPr lang="en-US" b="1" u="sng" dirty="0">
                <a:solidFill>
                  <a:schemeClr val="bg1"/>
                </a:solidFill>
                <a:highlight>
                  <a:srgbClr val="008000"/>
                </a:highlight>
                <a:latin typeface="Bodoni MT" panose="02070603080606020203" pitchFamily="18" charset="0"/>
              </a:rPr>
              <a:t>Net Transaction Amount: 318.12K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Net = Credit − Debit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Positive balance, so inflow is slightly higher than outflow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2808" y="3877777"/>
            <a:ext cx="51483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  <a:latin typeface="Bodoni MT" panose="02070603080606020203" pitchFamily="18" charset="0"/>
              </a:rPr>
              <a:t>4. </a:t>
            </a:r>
            <a:r>
              <a:rPr lang="en-US" b="1" u="sng" dirty="0">
                <a:solidFill>
                  <a:schemeClr val="bg1"/>
                </a:solidFill>
                <a:highlight>
                  <a:srgbClr val="008000"/>
                </a:highlight>
                <a:latin typeface="Bodoni MT" panose="02070603080606020203" pitchFamily="18" charset="0"/>
              </a:rPr>
              <a:t>Account Activity: 0.019%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Measures the share of activity relative to the total base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Very low value, which may suggest low variation or low engagement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9768" y="5295616"/>
            <a:ext cx="5017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  <a:latin typeface="Bodoni MT" panose="02070603080606020203" pitchFamily="18" charset="0"/>
              </a:rPr>
              <a:t>5. </a:t>
            </a:r>
            <a:r>
              <a:rPr lang="en-US" b="1" u="sng" dirty="0">
                <a:solidFill>
                  <a:schemeClr val="bg1"/>
                </a:solidFill>
                <a:highlight>
                  <a:srgbClr val="008000"/>
                </a:highlight>
                <a:latin typeface="Bodoni MT" panose="02070603080606020203" pitchFamily="18" charset="0"/>
              </a:rPr>
              <a:t>Credit to Debit Ratio: 1.0025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Credit ÷ Debit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A value above 1 means inflow is greater than outflow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06082" y="68091"/>
            <a:ext cx="80056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Bell MT" panose="02020503060305020303" pitchFamily="18" charset="0"/>
              </a:rPr>
              <a:t>Bank Debit and Credit KPI </a:t>
            </a:r>
            <a:endParaRPr lang="en-US" sz="32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8000"/>
            </a:schemeClr>
          </a:solidFill>
          <a:ln>
            <a:solidFill>
              <a:srgbClr val="000000">
                <a:alpha val="98000"/>
              </a:srgbClr>
            </a:solidFill>
          </a:ln>
          <a:effectLst>
            <a:glow>
              <a:schemeClr val="bg2">
                <a:alpha val="0"/>
              </a:schemeClr>
            </a:glow>
          </a:effectLst>
        </p:spPr>
      </p:pic>
      <p:sp>
        <p:nvSpPr>
          <p:cNvPr id="20" name="Shape 1"/>
          <p:cNvSpPr/>
          <p:nvPr/>
        </p:nvSpPr>
        <p:spPr>
          <a:xfrm>
            <a:off x="369789" y="626471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604865" y="138370"/>
            <a:ext cx="8845421" cy="546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2000"/>
              </a:lnSpc>
            </a:pPr>
            <a:r>
              <a:rPr lang="en-US" sz="3200" b="1" dirty="0">
                <a:latin typeface="Bell MT" panose="02020503060305020303" pitchFamily="18" charset="0"/>
              </a:rPr>
              <a:t>Bank Debit and Credit KPIs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564" y="843993"/>
            <a:ext cx="5487955" cy="5387535"/>
          </a:xfrm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6-Transactions per Day/Week/Month:</a:t>
            </a:r>
          </a:p>
          <a:p>
            <a:endParaRPr lang="en-US" dirty="0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369789" y="683776"/>
            <a:ext cx="5650011" cy="5807060"/>
          </a:xfrm>
          <a:prstGeom prst="roundRect">
            <a:avLst>
              <a:gd name="adj" fmla="val 6297"/>
            </a:avLst>
          </a:prstGeom>
          <a:noFill/>
          <a:ln w="22225">
            <a:solidFill>
              <a:srgbClr val="CC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/>
          <p:cNvSpPr/>
          <p:nvPr/>
        </p:nvSpPr>
        <p:spPr>
          <a:xfrm>
            <a:off x="6096000" y="718354"/>
            <a:ext cx="5650011" cy="5807060"/>
          </a:xfrm>
          <a:prstGeom prst="roundRect">
            <a:avLst>
              <a:gd name="adj" fmla="val 6297"/>
            </a:avLst>
          </a:prstGeom>
          <a:noFill/>
          <a:ln w="22225">
            <a:solidFill>
              <a:srgbClr val="CC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36" y="1247880"/>
            <a:ext cx="5387793" cy="290928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961" y="1247881"/>
            <a:ext cx="5255668" cy="29092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03541" y="771767"/>
            <a:ext cx="4257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7-Total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 Transaction Amount by Branch</a:t>
            </a:r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5821" y="4317381"/>
            <a:ext cx="503419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Monthly transactions stayed stable at around 9K from Jan to Oct 2024</a:t>
            </a:r>
          </a:p>
          <a:p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-    Sharp drop in Nov 2024 to 0.3K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Throughout the year, transactions stayed steady around 9K a month. The sudden drop in November is likely because data is incomplete for that month, which we should confirm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</p:txBody>
      </p:sp>
      <p:sp>
        <p:nvSpPr>
          <p:cNvPr id="25" name="TextBox 24"/>
          <p:cNvSpPr txBox="1"/>
          <p:nvPr/>
        </p:nvSpPr>
        <p:spPr>
          <a:xfrm>
            <a:off x="6418810" y="4317360"/>
            <a:ext cx="48397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City Center, Main, East and Downtown: about 43M each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Suburban and North: about 42M each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Performance is very even across branches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All six branches perform almost equally, between 42 and 43 million. No single branch is dependent on or lagging far behind the others.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47129" y="164592"/>
            <a:ext cx="14672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141414"/>
                </a:solidFill>
                <a:latin typeface="Constantia" panose="02030602050306030303"/>
              </a:rPr>
              <a:t>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8F8F8"/>
                </a:solidFill>
                <a:latin typeface="Constantia" panose="02030602050306030303"/>
              </a:rPr>
              <a:t>End-to-end workflow followed for the banking data analysis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221992" cy="4343400"/>
          </a:xfrm>
          <a:prstGeom prst="roundRect">
            <a:avLst/>
          </a:prstGeom>
          <a:solidFill>
            <a:srgbClr val="4A5B68"/>
          </a:solidFill>
          <a:ln w="22860">
            <a:solidFill>
              <a:srgbClr val="AFF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07008" y="1737360"/>
            <a:ext cx="804672" cy="804672"/>
          </a:xfrm>
          <a:prstGeom prst="ellipse">
            <a:avLst/>
          </a:prstGeom>
          <a:solidFill>
            <a:srgbClr val="AFF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1865376"/>
            <a:ext cx="804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latin typeface="Arial" panose="020B0604020202020204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715768"/>
            <a:ext cx="1892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8F8"/>
                </a:solidFill>
                <a:latin typeface="Constantia" panose="02030602050306030303"/>
              </a:rP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91839"/>
            <a:ext cx="1856232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8F8F8"/>
                </a:solidFill>
                <a:latin typeface="Constantia" panose="02030602050306030303"/>
              </a:rPr>
              <a:t>Loan and debit/credit transaction datasets were gathered for analysis.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34056" y="3429000"/>
            <a:ext cx="109728" cy="320040"/>
          </a:xfrm>
          <a:prstGeom prst="rightArrow">
            <a:avLst/>
          </a:prstGeom>
          <a:solidFill>
            <a:srgbClr val="AFF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34640" y="1417320"/>
            <a:ext cx="2221992" cy="4343400"/>
          </a:xfrm>
          <a:prstGeom prst="roundRect">
            <a:avLst/>
          </a:prstGeom>
          <a:solidFill>
            <a:srgbClr val="4A5B68"/>
          </a:solidFill>
          <a:ln w="22860">
            <a:solidFill>
              <a:srgbClr val="AFF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38728" y="1737360"/>
            <a:ext cx="804672" cy="804672"/>
          </a:xfrm>
          <a:prstGeom prst="ellipse">
            <a:avLst/>
          </a:prstGeom>
          <a:solidFill>
            <a:srgbClr val="AFF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8728" y="1865376"/>
            <a:ext cx="804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latin typeface="Arial" panose="020B0604020202020204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715768"/>
            <a:ext cx="1892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8F8"/>
                </a:solidFill>
                <a:latin typeface="Constantia" panose="02030602050306030303"/>
              </a:rP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91839"/>
            <a:ext cx="1856232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8F8F8"/>
                </a:solidFill>
                <a:latin typeface="Constantia" panose="02030602050306030303"/>
              </a:rPr>
              <a:t>Excel and SQL were used to clean, structure and prepare the data for analysis.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065776" y="3429000"/>
            <a:ext cx="109728" cy="320040"/>
          </a:xfrm>
          <a:prstGeom prst="rightArrow">
            <a:avLst/>
          </a:prstGeom>
          <a:solidFill>
            <a:srgbClr val="AFF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66360" y="1417320"/>
            <a:ext cx="2221992" cy="4343400"/>
          </a:xfrm>
          <a:prstGeom prst="roundRect">
            <a:avLst/>
          </a:prstGeom>
          <a:solidFill>
            <a:srgbClr val="4A5B68"/>
          </a:solidFill>
          <a:ln w="22860">
            <a:solidFill>
              <a:srgbClr val="AFF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70448" y="1737360"/>
            <a:ext cx="804672" cy="804672"/>
          </a:xfrm>
          <a:prstGeom prst="ellipse">
            <a:avLst/>
          </a:prstGeom>
          <a:solidFill>
            <a:srgbClr val="AFF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0448" y="1865376"/>
            <a:ext cx="804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latin typeface="Arial" panose="020B0604020202020204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2715768"/>
            <a:ext cx="1892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8F8"/>
                </a:solidFill>
                <a:latin typeface="Constantia" panose="02030602050306030303"/>
              </a:rPr>
              <a:t>Excel &amp; SQL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291839"/>
            <a:ext cx="1856232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8F8F8"/>
                </a:solidFill>
                <a:latin typeface="Constantia" panose="02030602050306030303"/>
              </a:rPr>
              <a:t>Excel calculations and SQL queries were used to examine loan, transaction and customer metrics.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397496" y="3429000"/>
            <a:ext cx="109728" cy="320040"/>
          </a:xfrm>
          <a:prstGeom prst="rightArrow">
            <a:avLst/>
          </a:prstGeom>
          <a:solidFill>
            <a:srgbClr val="AFF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98080" y="1417320"/>
            <a:ext cx="2221992" cy="4343400"/>
          </a:xfrm>
          <a:prstGeom prst="roundRect">
            <a:avLst/>
          </a:prstGeom>
          <a:solidFill>
            <a:srgbClr val="4A5B68"/>
          </a:solidFill>
          <a:ln w="22860">
            <a:solidFill>
              <a:srgbClr val="AFF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02168" y="1737360"/>
            <a:ext cx="804672" cy="804672"/>
          </a:xfrm>
          <a:prstGeom prst="ellipse">
            <a:avLst/>
          </a:prstGeom>
          <a:solidFill>
            <a:srgbClr val="AFF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2168" y="1865376"/>
            <a:ext cx="804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latin typeface="Arial" panose="020B0604020202020204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2" y="2715768"/>
            <a:ext cx="1892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dirty="0">
                <a:solidFill>
                  <a:srgbClr val="F8F8F8"/>
                </a:solidFill>
                <a:latin typeface="Constantia" panose="02030602050306030303"/>
              </a:rPr>
              <a:t>Dashboard 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291839"/>
            <a:ext cx="1856232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dirty="0">
                <a:solidFill>
                  <a:srgbClr val="F8F8F8"/>
                </a:solidFill>
                <a:latin typeface="Constantia" panose="02030602050306030303"/>
              </a:rPr>
              <a:t>Excel, Tableau and Power BI were used to build KPI cards, charts, filters and dashboards.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29216" y="3429000"/>
            <a:ext cx="109728" cy="320040"/>
          </a:xfrm>
          <a:prstGeom prst="rightArrow">
            <a:avLst/>
          </a:prstGeom>
          <a:solidFill>
            <a:srgbClr val="AFF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829800" y="1417320"/>
            <a:ext cx="2221992" cy="4343400"/>
          </a:xfrm>
          <a:prstGeom prst="roundRect">
            <a:avLst/>
          </a:prstGeom>
          <a:solidFill>
            <a:srgbClr val="4A5B68"/>
          </a:solidFill>
          <a:ln w="22860">
            <a:solidFill>
              <a:srgbClr val="AFF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533888" y="1737360"/>
            <a:ext cx="804672" cy="804672"/>
          </a:xfrm>
          <a:prstGeom prst="ellipse">
            <a:avLst/>
          </a:prstGeom>
          <a:solidFill>
            <a:srgbClr val="AFF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33888" y="1865376"/>
            <a:ext cx="804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latin typeface="Arial" panose="020B0604020202020204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4392" y="2715768"/>
            <a:ext cx="1892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8F8"/>
                </a:solidFill>
                <a:latin typeface="Constantia" panose="02030602050306030303"/>
              </a:rPr>
              <a:t>Insight Generation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291839"/>
            <a:ext cx="1856232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8F8F8"/>
                </a:solidFill>
                <a:latin typeface="Constantia" panose="02030602050306030303"/>
              </a:rPr>
              <a:t>The dashboards were reviewed to identify trends, comparisons and notable patterns.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8F8"/>
                </a:solidFill>
                <a:latin typeface="Constantia" panose="02030602050306030303"/>
              </a:rPr>
              <a:t>Tools Used: Excel • SQL • Tableau • Power BI
Output: KPI-driven dashboards for loan portfolio performance and debit/credit transaction activity.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33986" y="164592"/>
            <a:ext cx="42935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solidFill>
                  <a:srgbClr val="141414"/>
                </a:solidFill>
                <a:latin typeface="Constantia" panose="02030602050306030303"/>
              </a:rPr>
              <a:t>Analysis</a:t>
            </a:r>
            <a:r>
              <a:rPr sz="2500" b="1" dirty="0">
                <a:solidFill>
                  <a:srgbClr val="141414"/>
                </a:solidFill>
                <a:latin typeface="Constantia" panose="02030602050306030303"/>
              </a:rPr>
              <a:t> – Loan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8F8"/>
                </a:solidFill>
                <a:latin typeface="Constantia" panose="02030602050306030303"/>
              </a:rPr>
              <a:t>Key observations from the Loan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860244"/>
            <a:ext cx="5486400" cy="3474720"/>
          </a:xfrm>
          <a:prstGeom prst="roundRect">
            <a:avLst/>
          </a:prstGeom>
          <a:solidFill>
            <a:srgbClr val="43525F"/>
          </a:solidFill>
          <a:ln w="22860">
            <a:solidFill>
              <a:srgbClr val="AFF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093416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F8F8F8"/>
                </a:solidFill>
                <a:latin typeface="Constantia" panose="02030602050306030303"/>
              </a:rPr>
              <a:t>Portfolio &amp;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" y="2692348"/>
            <a:ext cx="49834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8F8"/>
                </a:solidFill>
                <a:latin typeface="Constantia" panose="02030602050306030303"/>
              </a:defRPr>
            </a:pPr>
            <a:r>
              <a:rPr>
                <a:latin typeface="Constantia" panose="02030602050306030303"/>
              </a:rPr>
              <a:t>•  Default loan rate: </a:t>
            </a:r>
            <a:r>
              <a:rPr b="0" i="0">
                <a:latin typeface="Arial" panose="020B0604020202020204"/>
              </a:rPr>
              <a:t>1.56%</a:t>
            </a:r>
            <a:r>
              <a:rPr>
                <a:latin typeface="Constantia" panose="02030602050306030303"/>
              </a:rPr>
              <a:t>, indicating a small share of loans marked as default in the dashboard.</a:t>
            </a:r>
          </a:p>
          <a:p>
            <a:pPr>
              <a:spcAft>
                <a:spcPts val="600"/>
              </a:spcAft>
              <a:defRPr sz="1300">
                <a:solidFill>
                  <a:srgbClr val="F8F8F8"/>
                </a:solidFill>
                <a:latin typeface="Constantia" panose="02030602050306030303"/>
              </a:defRPr>
            </a:pPr>
            <a:r>
              <a:rPr>
                <a:latin typeface="Constantia" panose="02030602050306030303"/>
              </a:rPr>
              <a:t>•  Delinquent loan rate: </a:t>
            </a:r>
            <a:r>
              <a:rPr b="0" i="0">
                <a:latin typeface="Arial" panose="020B0604020202020204"/>
              </a:rPr>
              <a:t>10.84%</a:t>
            </a:r>
            <a:r>
              <a:rPr>
                <a:latin typeface="Constantia" panose="02030602050306030303"/>
              </a:rPr>
              <a:t>, highlighting a larger set of loans with overdue payments.</a:t>
            </a:r>
          </a:p>
          <a:p>
            <a:pPr>
              <a:spcAft>
                <a:spcPts val="600"/>
              </a:spcAft>
              <a:defRPr sz="1300">
                <a:solidFill>
                  <a:srgbClr val="F8F8F8"/>
                </a:solidFill>
                <a:latin typeface="Constantia" panose="02030602050306030303"/>
              </a:defRPr>
            </a:pPr>
            <a:r>
              <a:rPr>
                <a:latin typeface="Constantia" panose="02030602050306030303"/>
              </a:rPr>
              <a:t>•  Delinquent clients: about </a:t>
            </a:r>
            <a:r>
              <a:rPr b="0" i="0">
                <a:latin typeface="Arial" panose="020B0604020202020204"/>
              </a:rPr>
              <a:t>7K</a:t>
            </a:r>
            <a:r>
              <a:rPr>
                <a:latin typeface="Constantia" panose="02030602050306030303"/>
              </a:rPr>
              <a:t>; default loans: about </a:t>
            </a:r>
            <a:r>
              <a:rPr b="0" i="0">
                <a:latin typeface="Arial" panose="020B0604020202020204"/>
              </a:rPr>
              <a:t>1K</a:t>
            </a:r>
            <a:r>
              <a:rPr>
                <a:latin typeface="Constantia" panose="02030602050306030303"/>
              </a:rPr>
              <a:t>.</a:t>
            </a:r>
          </a:p>
          <a:p>
            <a:pPr>
              <a:spcAft>
                <a:spcPts val="600"/>
              </a:spcAft>
              <a:defRPr sz="1300">
                <a:solidFill>
                  <a:srgbClr val="F8F8F8"/>
                </a:solidFill>
                <a:latin typeface="Constantia" panose="02030602050306030303"/>
              </a:defRPr>
            </a:pPr>
            <a:r>
              <a:rPr>
                <a:latin typeface="Constantia" panose="02030602050306030303"/>
              </a:rPr>
              <a:t>•  Loan status is concentrated in Active Loan (</a:t>
            </a:r>
            <a:r>
              <a:rPr b="0" i="0">
                <a:latin typeface="Arial" panose="020B0604020202020204"/>
              </a:rPr>
              <a:t>36K</a:t>
            </a:r>
            <a:r>
              <a:rPr>
                <a:latin typeface="Constantia" panose="02030602050306030303"/>
              </a:rPr>
              <a:t>) and Fully Paid (</a:t>
            </a:r>
            <a:r>
              <a:rPr b="0" i="0">
                <a:latin typeface="Arial" panose="020B0604020202020204"/>
              </a:rPr>
              <a:t>16K</a:t>
            </a:r>
            <a:r>
              <a:rPr>
                <a:latin typeface="Constantia" panose="02030602050306030303"/>
              </a:rPr>
              <a:t>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6000" y="1860244"/>
            <a:ext cx="5486400" cy="3474720"/>
          </a:xfrm>
          <a:prstGeom prst="roundRect">
            <a:avLst/>
          </a:prstGeom>
          <a:solidFill>
            <a:srgbClr val="43525F"/>
          </a:solidFill>
          <a:ln w="22860">
            <a:solidFill>
              <a:srgbClr val="AFF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2159757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F8F8F8"/>
                </a:solidFill>
                <a:latin typeface="Constantia" panose="02030602050306030303"/>
              </a:rPr>
              <a:t>Distribution &amp; Trends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702519"/>
            <a:ext cx="4983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F8F8F8"/>
                </a:solidFill>
                <a:latin typeface="Constantia" panose="02030602050306030303"/>
              </a:defRPr>
            </a:pPr>
            <a:r>
              <a:rPr>
                <a:latin typeface="Constantia" panose="02030602050306030303"/>
              </a:rPr>
              <a:t>•  Uttar Pradesh has the highest state-wise loan count at about </a:t>
            </a:r>
            <a:r>
              <a:rPr b="0" i="0">
                <a:latin typeface="Arial" panose="020B0604020202020204"/>
              </a:rPr>
              <a:t>12K</a:t>
            </a:r>
            <a:r>
              <a:rPr>
                <a:latin typeface="Constantia" panose="02030602050306030303"/>
              </a:rPr>
              <a:t>, followed by Punjab (</a:t>
            </a:r>
            <a:r>
              <a:rPr b="0" i="0">
                <a:latin typeface="Arial" panose="020B0604020202020204"/>
              </a:rPr>
              <a:t>10.2K</a:t>
            </a:r>
            <a:r>
              <a:rPr>
                <a:latin typeface="Constantia" panose="02030602050306030303"/>
              </a:rPr>
              <a:t>) and Bihar (</a:t>
            </a:r>
            <a:r>
              <a:rPr b="0" i="0">
                <a:latin typeface="Arial" panose="020B0604020202020204"/>
              </a:rPr>
              <a:t>8.5K</a:t>
            </a:r>
            <a:r>
              <a:rPr>
                <a:latin typeface="Constantia" panose="02030602050306030303"/>
              </a:rPr>
              <a:t>).</a:t>
            </a:r>
          </a:p>
          <a:p>
            <a:pPr>
              <a:spcAft>
                <a:spcPts val="600"/>
              </a:spcAft>
              <a:defRPr sz="1230">
                <a:solidFill>
                  <a:srgbClr val="F8F8F8"/>
                </a:solidFill>
                <a:latin typeface="Constantia" panose="02030602050306030303"/>
              </a:defRPr>
            </a:pPr>
            <a:r>
              <a:rPr>
                <a:latin typeface="Constantia" panose="02030602050306030303"/>
              </a:rPr>
              <a:t>•  Product XLG dominates the product distribution with </a:t>
            </a:r>
            <a:r>
              <a:rPr b="0" i="0">
                <a:latin typeface="Arial" panose="020B0604020202020204"/>
              </a:rPr>
              <a:t>56,902</a:t>
            </a:r>
            <a:r>
              <a:rPr>
                <a:latin typeface="Constantia" panose="02030602050306030303"/>
              </a:rPr>
              <a:t> loans.</a:t>
            </a:r>
          </a:p>
          <a:p>
            <a:pPr>
              <a:spcAft>
                <a:spcPts val="600"/>
              </a:spcAft>
              <a:defRPr sz="1230">
                <a:solidFill>
                  <a:srgbClr val="F8F8F8"/>
                </a:solidFill>
                <a:latin typeface="Constantia" panose="02030602050306030303"/>
              </a:defRPr>
            </a:pPr>
            <a:r>
              <a:rPr>
                <a:latin typeface="Constantia" panose="02030602050306030303"/>
              </a:rPr>
              <a:t>•  Grade B has the highest loan count (</a:t>
            </a:r>
            <a:r>
              <a:rPr b="0" i="0">
                <a:latin typeface="Arial" panose="020B0604020202020204"/>
              </a:rPr>
              <a:t>12,020</a:t>
            </a:r>
            <a:r>
              <a:rPr>
                <a:latin typeface="Constantia" panose="02030602050306030303"/>
              </a:rPr>
              <a:t>), followed by A (</a:t>
            </a:r>
            <a:r>
              <a:rPr b="0" i="0">
                <a:latin typeface="Arial" panose="020B0604020202020204"/>
              </a:rPr>
              <a:t>10,085</a:t>
            </a:r>
            <a:r>
              <a:rPr>
                <a:latin typeface="Constantia" panose="02030602050306030303"/>
              </a:rPr>
              <a:t>) and C (</a:t>
            </a:r>
            <a:r>
              <a:rPr b="0" i="0">
                <a:latin typeface="Arial" panose="020B0604020202020204"/>
              </a:rPr>
              <a:t>8,098</a:t>
            </a:r>
            <a:r>
              <a:rPr>
                <a:latin typeface="Constantia" panose="02030602050306030303"/>
              </a:rPr>
              <a:t>).</a:t>
            </a:r>
          </a:p>
          <a:p>
            <a:pPr>
              <a:spcAft>
                <a:spcPts val="600"/>
              </a:spcAft>
              <a:defRPr sz="1230">
                <a:solidFill>
                  <a:srgbClr val="F8F8F8"/>
                </a:solidFill>
                <a:latin typeface="Constantia" panose="02030602050306030303"/>
              </a:defRPr>
            </a:pPr>
            <a:r>
              <a:rPr>
                <a:latin typeface="Constantia" panose="02030602050306030303"/>
              </a:rPr>
              <a:t>•  </a:t>
            </a:r>
            <a:r>
              <a:rPr b="0" i="0">
                <a:latin typeface="Arial" panose="020B0604020202020204"/>
              </a:rPr>
              <a:t>26</a:t>
            </a:r>
            <a:r>
              <a:rPr>
                <a:latin typeface="Constantia" panose="02030602050306030303"/>
              </a:rPr>
              <a:t>–</a:t>
            </a:r>
            <a:r>
              <a:rPr b="0" i="0">
                <a:latin typeface="Arial" panose="020B0604020202020204"/>
              </a:rPr>
              <a:t>35</a:t>
            </a:r>
            <a:r>
              <a:rPr>
                <a:latin typeface="Constantia" panose="02030602050306030303"/>
              </a:rPr>
              <a:t> is the highest age-group value shown (</a:t>
            </a:r>
            <a:r>
              <a:rPr b="0" i="0">
                <a:latin typeface="Arial" panose="020B0604020202020204"/>
              </a:rPr>
              <a:t>261.0M</a:t>
            </a:r>
            <a:r>
              <a:rPr>
                <a:latin typeface="Constantia" panose="02030602050306030303"/>
              </a:rPr>
              <a:t>), followed by </a:t>
            </a:r>
            <a:r>
              <a:rPr b="0" i="0">
                <a:latin typeface="Arial" panose="020B0604020202020204"/>
              </a:rPr>
              <a:t>36</a:t>
            </a:r>
            <a:r>
              <a:rPr>
                <a:latin typeface="Constantia" panose="02030602050306030303"/>
              </a:rPr>
              <a:t>–</a:t>
            </a:r>
            <a:r>
              <a:rPr b="0" i="0">
                <a:latin typeface="Arial" panose="020B0604020202020204"/>
              </a:rPr>
              <a:t>45</a:t>
            </a:r>
            <a:r>
              <a:rPr>
                <a:latin typeface="Constantia" panose="02030602050306030303"/>
              </a:rPr>
              <a:t> (</a:t>
            </a:r>
            <a:r>
              <a:rPr b="0" i="0">
                <a:latin typeface="Arial" panose="020B0604020202020204"/>
              </a:rPr>
              <a:t>243.3M</a:t>
            </a:r>
            <a:r>
              <a:rPr>
                <a:latin typeface="Constantia" panose="02030602050306030303"/>
              </a:rPr>
              <a:t>).</a:t>
            </a:r>
          </a:p>
          <a:p>
            <a:pPr>
              <a:spcAft>
                <a:spcPts val="600"/>
              </a:spcAft>
              <a:defRPr sz="1230">
                <a:solidFill>
                  <a:srgbClr val="F8F8F8"/>
                </a:solidFill>
                <a:latin typeface="Constantia" panose="02030602050306030303"/>
              </a:defRPr>
            </a:pPr>
            <a:r>
              <a:rPr>
                <a:latin typeface="Constantia" panose="02030602050306030303"/>
              </a:rPr>
              <a:t>•  </a:t>
            </a:r>
            <a:r>
              <a:rPr b="0" i="0">
                <a:latin typeface="Arial" panose="020B0604020202020204"/>
              </a:rPr>
              <a:t>36</a:t>
            </a:r>
            <a:r>
              <a:rPr>
                <a:latin typeface="Constantia" panose="02030602050306030303"/>
              </a:rPr>
              <a:t>-month maturity is more common than </a:t>
            </a:r>
            <a:r>
              <a:rPr b="0" i="0">
                <a:latin typeface="Arial" panose="020B0604020202020204"/>
              </a:rPr>
              <a:t>60</a:t>
            </a:r>
            <a:r>
              <a:rPr>
                <a:latin typeface="Constantia" panose="02030602050306030303"/>
              </a:rPr>
              <a:t>-month maturity (</a:t>
            </a:r>
            <a:r>
              <a:rPr b="0" i="0">
                <a:latin typeface="Arial" panose="020B0604020202020204"/>
              </a:rPr>
              <a:t>46K</a:t>
            </a:r>
            <a:r>
              <a:rPr>
                <a:latin typeface="Constantia" panose="02030602050306030303"/>
              </a:rPr>
              <a:t> vs </a:t>
            </a:r>
            <a:r>
              <a:rPr b="0" i="0">
                <a:latin typeface="Arial" panose="020B0604020202020204"/>
              </a:rPr>
              <a:t>20K</a:t>
            </a:r>
            <a:r>
              <a:rPr>
                <a:latin typeface="Constantia" panose="02030602050306030303"/>
              </a:rPr>
              <a:t>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latin typeface="Constantia" panose="02030602050306030303"/>
              </a:rPr>
              <a:t>Yearly disbursement peaks at </a:t>
            </a:r>
            <a:r>
              <a:rPr sz="1250" b="0" i="0">
                <a:latin typeface="Arial" panose="020B0604020202020204"/>
              </a:rPr>
              <a:t>2018</a:t>
            </a:r>
            <a:r>
              <a:rPr sz="1250" b="1">
                <a:latin typeface="Constantia" panose="02030602050306030303"/>
              </a:rPr>
              <a:t> (</a:t>
            </a:r>
            <a:r>
              <a:rPr sz="1250" b="0" i="0">
                <a:latin typeface="Arial" panose="020B0604020202020204"/>
              </a:rPr>
              <a:t>281.21M</a:t>
            </a:r>
            <a:r>
              <a:rPr sz="1250" b="1">
                <a:latin typeface="Constantia" panose="02030602050306030303"/>
              </a:rPr>
              <a:t>) and then declines in </a:t>
            </a:r>
            <a:r>
              <a:rPr sz="1250" b="0" i="0">
                <a:latin typeface="Arial" panose="020B0604020202020204"/>
              </a:rPr>
              <a:t>2019</a:t>
            </a:r>
            <a:r>
              <a:rPr sz="1250" b="1">
                <a:latin typeface="Constantia" panose="02030602050306030303"/>
              </a:rPr>
              <a:t> and </a:t>
            </a:r>
            <a:r>
              <a:rPr sz="1250" b="0" i="0">
                <a:latin typeface="Arial" panose="020B0604020202020204"/>
              </a:rPr>
              <a:t>2020</a:t>
            </a:r>
            <a:r>
              <a:rPr sz="1250" b="1">
                <a:latin typeface="Constantia" panose="02030602050306030303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72693" y="164592"/>
            <a:ext cx="60161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onstantia" panose="02030602050306030303"/>
              </a:rPr>
              <a:t>Analysis</a:t>
            </a:r>
            <a:r>
              <a:rPr sz="2500" b="1" dirty="0">
                <a:latin typeface="Constantia" panose="02030602050306030303"/>
              </a:rPr>
              <a:t> – Debit &amp; Credit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latin typeface="Constantia" panose="02030602050306030303"/>
              </a:rPr>
              <a:t>Key observations from the Debit &amp; Credit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536192"/>
            <a:ext cx="5486400" cy="3798772"/>
          </a:xfrm>
          <a:prstGeom prst="roundRect">
            <a:avLst/>
          </a:prstGeom>
          <a:solidFill>
            <a:srgbClr val="43525F"/>
          </a:solidFill>
          <a:ln w="22860">
            <a:solidFill>
              <a:srgbClr val="AFF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093416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chemeClr val="bg1"/>
                </a:solidFill>
                <a:latin typeface="Constantia" panose="02030602050306030303"/>
              </a:rPr>
              <a:t>Transaction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" y="2692348"/>
            <a:ext cx="49834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8F8"/>
                </a:solidFill>
                <a:latin typeface="Constantia" panose="02030602050306030303"/>
              </a:defRPr>
            </a:pPr>
            <a:r>
              <a:rPr sz="1300" b="0">
                <a:latin typeface="Constantia" panose="02030602050306030303"/>
              </a:rPr>
              <a:t>•  Total credit amount: </a:t>
            </a:r>
            <a:r>
              <a:rPr sz="1300" b="0" i="0">
                <a:latin typeface="Arial" panose="020B0604020202020204"/>
              </a:rPr>
              <a:t>127.60M</a:t>
            </a:r>
            <a:r>
              <a:rPr sz="1300" b="0">
                <a:latin typeface="Constantia" panose="02030602050306030303"/>
              </a:rPr>
              <a:t>, representing the total money received into accounts.</a:t>
            </a:r>
            <a:br>
              <a:rPr sz="1300" b="0">
                <a:latin typeface="Constantia" panose="02030602050306030303"/>
              </a:rPr>
            </a:br>
            <a:r>
              <a:rPr sz="1300" b="0">
                <a:latin typeface="Constantia" panose="02030602050306030303"/>
              </a:rPr>
              <a:t>•  Total debit amount: </a:t>
            </a:r>
            <a:r>
              <a:rPr sz="1300" b="0" i="0">
                <a:latin typeface="Arial" panose="020B0604020202020204"/>
              </a:rPr>
              <a:t>127.29M</a:t>
            </a:r>
            <a:r>
              <a:rPr sz="1300" b="0">
                <a:latin typeface="Constantia" panose="02030602050306030303"/>
              </a:rPr>
              <a:t>, representing the total money withdrawn or spent.</a:t>
            </a:r>
            <a:br>
              <a:rPr sz="1300" b="0">
                <a:latin typeface="Constantia" panose="02030602050306030303"/>
              </a:rPr>
            </a:br>
            <a:r>
              <a:rPr sz="1300" b="0">
                <a:latin typeface="Constantia" panose="02030602050306030303"/>
              </a:rPr>
              <a:t>•  Net transaction amount: </a:t>
            </a:r>
            <a:r>
              <a:rPr sz="1300" b="0" i="0">
                <a:latin typeface="Arial" panose="020B0604020202020204"/>
              </a:rPr>
              <a:t>318.12K</a:t>
            </a:r>
            <a:r>
              <a:rPr sz="1300" b="0">
                <a:latin typeface="Constantia" panose="02030602050306030303"/>
              </a:rPr>
              <a:t>, showing a small positive difference between credit and debit.</a:t>
            </a:r>
            <a:br>
              <a:rPr sz="1300" b="0">
                <a:latin typeface="Constantia" panose="02030602050306030303"/>
              </a:rPr>
            </a:br>
            <a:r>
              <a:rPr sz="1300" b="0">
                <a:latin typeface="Constantia" panose="02030602050306030303"/>
              </a:rPr>
              <a:t>•  Credit-to-debit ratio: </a:t>
            </a:r>
            <a:r>
              <a:rPr sz="1300" b="0" i="0">
                <a:latin typeface="Arial" panose="020B0604020202020204"/>
              </a:rPr>
              <a:t>1.0025</a:t>
            </a:r>
            <a:r>
              <a:rPr sz="1300" b="0">
                <a:latin typeface="Constantia" panose="02030602050306030303"/>
              </a:rPr>
              <a:t>, indicating that credit is slightly higher than debit.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6000" y="1499175"/>
            <a:ext cx="5486400" cy="3835789"/>
          </a:xfrm>
          <a:prstGeom prst="roundRect">
            <a:avLst/>
          </a:prstGeom>
          <a:solidFill>
            <a:srgbClr val="43525F"/>
          </a:solidFill>
          <a:ln w="22860">
            <a:solidFill>
              <a:srgbClr val="AFF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2159757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chemeClr val="bg1"/>
                </a:solidFill>
                <a:latin typeface="Constantia" panose="02030602050306030303"/>
              </a:rPr>
              <a:t>Trends &amp; Branch Activity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702519"/>
            <a:ext cx="4983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F8F8F8"/>
                </a:solidFill>
                <a:latin typeface="Constantia" panose="02030602050306030303"/>
              </a:defRPr>
            </a:pPr>
            <a:r>
              <a:rPr sz="1300" b="0">
                <a:latin typeface="Constantia" panose="02030602050306030303"/>
              </a:rPr>
              <a:t>•  Monthly transaction activity stays close to </a:t>
            </a:r>
            <a:r>
              <a:rPr sz="1300" b="0" i="0">
                <a:latin typeface="Arial" panose="020B0604020202020204"/>
              </a:rPr>
              <a:t>9K</a:t>
            </a:r>
            <a:r>
              <a:rPr sz="1300" b="0">
                <a:latin typeface="Constantia" panose="02030602050306030303"/>
              </a:rPr>
              <a:t> for most months from January to October </a:t>
            </a:r>
            <a:r>
              <a:rPr sz="1300" b="0" i="0">
                <a:latin typeface="Arial" panose="020B0604020202020204"/>
              </a:rPr>
              <a:t>2024</a:t>
            </a:r>
            <a:r>
              <a:rPr sz="1300" b="0">
                <a:latin typeface="Constantia" panose="02030602050306030303"/>
              </a:rPr>
              <a:t>.</a:t>
            </a:r>
            <a:br>
              <a:rPr sz="1300" b="0">
                <a:latin typeface="Constantia" panose="02030602050306030303"/>
              </a:rPr>
            </a:br>
            <a:r>
              <a:rPr sz="1300" b="0">
                <a:latin typeface="Constantia" panose="02030602050306030303"/>
              </a:rPr>
              <a:t>•  November shows a sharp drop to about </a:t>
            </a:r>
            <a:r>
              <a:rPr sz="1300" b="0" i="0">
                <a:latin typeface="Arial" panose="020B0604020202020204"/>
              </a:rPr>
              <a:t>0.3K</a:t>
            </a:r>
            <a:r>
              <a:rPr sz="1300" b="0">
                <a:latin typeface="Constantia" panose="02030602050306030303"/>
              </a:rPr>
              <a:t> transactions and should be validated for completeness.</a:t>
            </a:r>
            <a:br>
              <a:rPr sz="1300" b="0">
                <a:latin typeface="Constantia" panose="02030602050306030303"/>
              </a:rPr>
            </a:br>
            <a:r>
              <a:rPr sz="1300" b="0">
                <a:latin typeface="Constantia" panose="02030602050306030303"/>
              </a:rPr>
              <a:t>•  Branch transaction values are highly even, with branches ranging from about </a:t>
            </a:r>
            <a:r>
              <a:rPr sz="1300" b="0" i="0">
                <a:latin typeface="Arial" panose="020B0604020202020204"/>
              </a:rPr>
              <a:t>42M</a:t>
            </a:r>
            <a:r>
              <a:rPr sz="1300" b="0">
                <a:latin typeface="Constantia" panose="02030602050306030303"/>
              </a:rPr>
              <a:t> to </a:t>
            </a:r>
            <a:r>
              <a:rPr sz="1300" b="0" i="0">
                <a:latin typeface="Arial" panose="020B0604020202020204"/>
              </a:rPr>
              <a:t>43M</a:t>
            </a:r>
            <a:r>
              <a:rPr sz="1300" b="0">
                <a:latin typeface="Constantia" panose="02030602050306030303"/>
              </a:rPr>
              <a:t>.</a:t>
            </a:r>
            <a:br>
              <a:rPr sz="1300" b="0">
                <a:latin typeface="Constantia" panose="02030602050306030303"/>
              </a:rPr>
            </a:br>
            <a:r>
              <a:rPr sz="1300" b="0">
                <a:latin typeface="Constantia" panose="02030602050306030303"/>
              </a:rPr>
              <a:t>•  Account activity is shown at </a:t>
            </a:r>
            <a:r>
              <a:rPr sz="1300" b="0" i="0">
                <a:latin typeface="Arial" panose="020B0604020202020204"/>
              </a:rPr>
              <a:t>0.019%</a:t>
            </a:r>
            <a:r>
              <a:rPr sz="1300" b="0">
                <a:latin typeface="Constantia" panose="02030602050306030303"/>
              </a:rPr>
              <a:t>, providing an additional view of transaction activity.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1001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dirty="0">
                <a:latin typeface="Constantia" panose="02030602050306030303"/>
              </a:rPr>
              <a:t>Overall, the dashboard shows balanced credit and debit flows with relatively consistent transaction activity across branches.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9117" y="164592"/>
            <a:ext cx="47432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solidFill>
                  <a:srgbClr val="141414"/>
                </a:solidFill>
                <a:latin typeface="Constantia" panose="02030602050306030303"/>
              </a:rPr>
              <a:t>Analysis</a:t>
            </a:r>
            <a:r>
              <a:rPr sz="2500" b="1" dirty="0">
                <a:solidFill>
                  <a:srgbClr val="141414"/>
                </a:solidFill>
                <a:latin typeface="Constantia" panose="02030602050306030303"/>
              </a:rPr>
              <a:t> – Overall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F8F8F8"/>
                </a:solidFill>
                <a:latin typeface="Constantia" panose="02030602050306030303"/>
              </a:rPr>
              <a:t>What the dashboards reveal across both banking datasets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5440680" cy="4526280"/>
          </a:xfrm>
          <a:prstGeom prst="roundRect">
            <a:avLst/>
          </a:prstGeom>
          <a:solidFill>
            <a:srgbClr val="43525F"/>
          </a:solidFill>
          <a:ln w="22860">
            <a:solidFill>
              <a:srgbClr val="AFF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11234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F8F8F8"/>
                </a:solidFill>
                <a:latin typeface="Constantia" panose="02030602050306030303"/>
              </a:rPr>
              <a:t>Loan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8006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8F8"/>
                </a:solidFill>
                <a:latin typeface="Constantia" panose="02030602050306030303"/>
              </a:defRPr>
            </a:pPr>
            <a:r>
              <a:rPr dirty="0">
                <a:latin typeface="Constantia" panose="02030602050306030303"/>
              </a:rPr>
              <a:t>•  The portfolio contains </a:t>
            </a:r>
            <a:r>
              <a:rPr b="0" i="0" dirty="0">
                <a:latin typeface="Arial" panose="020B0604020202020204"/>
              </a:rPr>
              <a:t>65,536</a:t>
            </a:r>
            <a:r>
              <a:rPr dirty="0">
                <a:latin typeface="Constantia" panose="02030602050306030303"/>
              </a:rPr>
              <a:t> loans with </a:t>
            </a:r>
            <a:r>
              <a:rPr b="0" i="0" dirty="0">
                <a:latin typeface="Arial" panose="020B0604020202020204"/>
              </a:rPr>
              <a:t>733M</a:t>
            </a:r>
            <a:r>
              <a:rPr dirty="0">
                <a:latin typeface="Constantia" panose="02030602050306030303"/>
              </a:rPr>
              <a:t> in funded amount.</a:t>
            </a:r>
          </a:p>
          <a:p>
            <a:pPr>
              <a:spcAft>
                <a:spcPts val="600"/>
              </a:spcAft>
              <a:defRPr sz="1400">
                <a:solidFill>
                  <a:srgbClr val="F8F8F8"/>
                </a:solidFill>
                <a:latin typeface="Constantia" panose="02030602050306030303"/>
              </a:defRPr>
            </a:pPr>
            <a:r>
              <a:rPr dirty="0">
                <a:latin typeface="Constantia" panose="02030602050306030303"/>
              </a:rPr>
              <a:t>•  Collections (</a:t>
            </a:r>
            <a:r>
              <a:rPr b="0" i="0" dirty="0">
                <a:latin typeface="Arial" panose="020B0604020202020204"/>
              </a:rPr>
              <a:t>814.90M</a:t>
            </a:r>
            <a:r>
              <a:rPr dirty="0">
                <a:latin typeface="Constantia" panose="02030602050306030303"/>
              </a:rPr>
              <a:t>) and interest (</a:t>
            </a:r>
            <a:r>
              <a:rPr b="0" i="0" dirty="0">
                <a:latin typeface="Arial" panose="020B0604020202020204"/>
              </a:rPr>
              <a:t>155.29M</a:t>
            </a:r>
            <a:r>
              <a:rPr dirty="0">
                <a:latin typeface="Constantia" panose="02030602050306030303"/>
              </a:rPr>
              <a:t>) provide a view of repayment and interest income in the dataset.</a:t>
            </a:r>
          </a:p>
          <a:p>
            <a:pPr>
              <a:spcAft>
                <a:spcPts val="600"/>
              </a:spcAft>
              <a:defRPr sz="1400">
                <a:solidFill>
                  <a:srgbClr val="F8F8F8"/>
                </a:solidFill>
                <a:latin typeface="Constantia" panose="02030602050306030303"/>
              </a:defRPr>
            </a:pPr>
            <a:r>
              <a:rPr dirty="0">
                <a:latin typeface="Constantia" panose="02030602050306030303"/>
              </a:rPr>
              <a:t>•  Delinquency (</a:t>
            </a:r>
            <a:r>
              <a:rPr b="0" i="0" dirty="0">
                <a:latin typeface="Arial" panose="020B0604020202020204"/>
              </a:rPr>
              <a:t>10.84%</a:t>
            </a:r>
            <a:r>
              <a:rPr dirty="0">
                <a:latin typeface="Constantia" panose="02030602050306030303"/>
              </a:rPr>
              <a:t>) is more prominent than default (</a:t>
            </a:r>
            <a:r>
              <a:rPr b="0" i="0" dirty="0">
                <a:latin typeface="Arial" panose="020B0604020202020204"/>
              </a:rPr>
              <a:t>1.56%</a:t>
            </a:r>
            <a:r>
              <a:rPr dirty="0">
                <a:latin typeface="Constantia" panose="02030602050306030303"/>
              </a:rPr>
              <a:t>).</a:t>
            </a:r>
          </a:p>
          <a:p>
            <a:pPr>
              <a:spcAft>
                <a:spcPts val="600"/>
              </a:spcAft>
              <a:defRPr sz="1400">
                <a:solidFill>
                  <a:srgbClr val="F8F8F8"/>
                </a:solidFill>
                <a:latin typeface="Constantia" panose="02030602050306030303"/>
              </a:defRPr>
            </a:pPr>
            <a:r>
              <a:rPr dirty="0">
                <a:latin typeface="Constantia" panose="02030602050306030303"/>
              </a:rPr>
              <a:t>•  Loan activity is concentrated in XLG products, Grade B, and </a:t>
            </a:r>
            <a:r>
              <a:rPr b="0" i="0" dirty="0">
                <a:latin typeface="Arial" panose="020B0604020202020204"/>
              </a:rPr>
              <a:t>36</a:t>
            </a:r>
            <a:r>
              <a:rPr dirty="0">
                <a:latin typeface="Constantia" panose="02030602050306030303"/>
              </a:rPr>
              <a:t>-month maturity.</a:t>
            </a:r>
          </a:p>
          <a:p>
            <a:pPr>
              <a:spcAft>
                <a:spcPts val="600"/>
              </a:spcAft>
              <a:defRPr sz="1400">
                <a:solidFill>
                  <a:srgbClr val="F8F8F8"/>
                </a:solidFill>
                <a:latin typeface="Constantia" panose="02030602050306030303"/>
              </a:defRPr>
            </a:pPr>
            <a:r>
              <a:rPr dirty="0">
                <a:latin typeface="Constantia" panose="02030602050306030303"/>
              </a:rPr>
              <a:t>•  The </a:t>
            </a:r>
            <a:r>
              <a:rPr b="0" i="0" dirty="0">
                <a:latin typeface="Arial" panose="020B0604020202020204"/>
              </a:rPr>
              <a:t>2018</a:t>
            </a:r>
            <a:r>
              <a:rPr dirty="0">
                <a:latin typeface="Constantia" panose="02030602050306030303"/>
              </a:rPr>
              <a:t> disbursement value is the highest point in the yearly trend shown.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440680" cy="4526280"/>
          </a:xfrm>
          <a:prstGeom prst="roundRect">
            <a:avLst/>
          </a:prstGeom>
          <a:solidFill>
            <a:srgbClr val="43525F"/>
          </a:solidFill>
          <a:ln w="22860">
            <a:solidFill>
              <a:srgbClr val="AFF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8F8F8"/>
                </a:solidFill>
                <a:latin typeface="Constantia" panose="02030602050306030303"/>
              </a:rPr>
              <a:t>Debit &amp; Credit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8006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20">
                <a:solidFill>
                  <a:srgbClr val="F8F8F8"/>
                </a:solidFill>
                <a:latin typeface="Constantia" panose="02030602050306030303"/>
              </a:defRPr>
            </a:pPr>
            <a:r>
              <a:rPr dirty="0">
                <a:latin typeface="Constantia" panose="02030602050306030303"/>
              </a:rPr>
              <a:t>•  Credit and debit amounts are closely balanced at </a:t>
            </a:r>
            <a:r>
              <a:rPr b="0" i="0" dirty="0">
                <a:latin typeface="Arial" panose="020B0604020202020204"/>
              </a:rPr>
              <a:t>127.60M</a:t>
            </a:r>
            <a:r>
              <a:rPr dirty="0">
                <a:latin typeface="Constantia" panose="02030602050306030303"/>
              </a:rPr>
              <a:t> and </a:t>
            </a:r>
            <a:r>
              <a:rPr b="0" i="0" dirty="0">
                <a:latin typeface="Arial" panose="020B0604020202020204"/>
              </a:rPr>
              <a:t>127.29M</a:t>
            </a:r>
            <a:r>
              <a:rPr dirty="0">
                <a:latin typeface="Constantia" panose="02030602050306030303"/>
              </a:rPr>
              <a:t>.</a:t>
            </a:r>
          </a:p>
          <a:p>
            <a:pPr>
              <a:spcAft>
                <a:spcPts val="600"/>
              </a:spcAft>
              <a:defRPr sz="1320">
                <a:solidFill>
                  <a:srgbClr val="F8F8F8"/>
                </a:solidFill>
                <a:latin typeface="Constantia" panose="02030602050306030303"/>
              </a:defRPr>
            </a:pPr>
            <a:r>
              <a:rPr dirty="0">
                <a:latin typeface="Constantia" panose="02030602050306030303"/>
              </a:rPr>
              <a:t>•  The resulting net transaction amount is positive at </a:t>
            </a:r>
            <a:r>
              <a:rPr b="0" i="0" dirty="0">
                <a:latin typeface="Arial" panose="020B0604020202020204"/>
              </a:rPr>
              <a:t>318.12K</a:t>
            </a:r>
            <a:r>
              <a:rPr dirty="0">
                <a:latin typeface="Constantia" panose="02030602050306030303"/>
              </a:rPr>
              <a:t>.</a:t>
            </a:r>
          </a:p>
          <a:p>
            <a:pPr>
              <a:spcAft>
                <a:spcPts val="600"/>
              </a:spcAft>
              <a:defRPr sz="1320">
                <a:solidFill>
                  <a:srgbClr val="F8F8F8"/>
                </a:solidFill>
                <a:latin typeface="Constantia" panose="02030602050306030303"/>
              </a:defRPr>
            </a:pPr>
            <a:r>
              <a:rPr dirty="0">
                <a:latin typeface="Constantia" panose="02030602050306030303"/>
              </a:rPr>
              <a:t>•  The credit-to-debit ratio of </a:t>
            </a:r>
            <a:r>
              <a:rPr b="0" i="0" dirty="0">
                <a:latin typeface="Arial" panose="020B0604020202020204"/>
              </a:rPr>
              <a:t>1.0025</a:t>
            </a:r>
            <a:r>
              <a:rPr dirty="0">
                <a:latin typeface="Constantia" panose="02030602050306030303"/>
              </a:rPr>
              <a:t> shows credit slightly exceeds debit.</a:t>
            </a:r>
          </a:p>
          <a:p>
            <a:pPr>
              <a:spcAft>
                <a:spcPts val="600"/>
              </a:spcAft>
              <a:defRPr sz="1320">
                <a:solidFill>
                  <a:srgbClr val="F8F8F8"/>
                </a:solidFill>
                <a:latin typeface="Constantia" panose="02030602050306030303"/>
              </a:defRPr>
            </a:pPr>
            <a:r>
              <a:rPr dirty="0">
                <a:latin typeface="Constantia" panose="02030602050306030303"/>
              </a:rPr>
              <a:t>•  Transaction volume stays close to </a:t>
            </a:r>
            <a:r>
              <a:rPr b="0" i="0" dirty="0">
                <a:latin typeface="Arial" panose="020B0604020202020204"/>
              </a:rPr>
              <a:t>9K</a:t>
            </a:r>
            <a:r>
              <a:rPr dirty="0">
                <a:latin typeface="Constantia" panose="02030602050306030303"/>
              </a:rPr>
              <a:t> per month for most of Jan–Oct </a:t>
            </a:r>
            <a:r>
              <a:rPr b="0" i="0" dirty="0">
                <a:latin typeface="Arial" panose="020B0604020202020204"/>
              </a:rPr>
              <a:t>2024</a:t>
            </a:r>
            <a:r>
              <a:rPr dirty="0">
                <a:latin typeface="Constantia" panose="02030602050306030303"/>
              </a:rPr>
              <a:t>.</a:t>
            </a:r>
          </a:p>
          <a:p>
            <a:pPr>
              <a:spcAft>
                <a:spcPts val="600"/>
              </a:spcAft>
              <a:defRPr sz="1320">
                <a:solidFill>
                  <a:srgbClr val="F8F8F8"/>
                </a:solidFill>
                <a:latin typeface="Constantia" panose="02030602050306030303"/>
              </a:defRPr>
            </a:pPr>
            <a:r>
              <a:rPr dirty="0">
                <a:latin typeface="Constantia" panose="02030602050306030303"/>
              </a:rPr>
              <a:t>•  Branch transaction values are very even, ranging from about </a:t>
            </a:r>
            <a:r>
              <a:rPr b="0" i="0" dirty="0">
                <a:latin typeface="Arial" panose="020B0604020202020204"/>
              </a:rPr>
              <a:t>42M</a:t>
            </a:r>
            <a:r>
              <a:rPr dirty="0">
                <a:latin typeface="Constantia" panose="02030602050306030303"/>
              </a:rPr>
              <a:t> to </a:t>
            </a:r>
            <a:r>
              <a:rPr b="0" i="0" dirty="0">
                <a:latin typeface="Arial" panose="020B0604020202020204"/>
              </a:rPr>
              <a:t>43M</a:t>
            </a:r>
            <a:r>
              <a:rPr dirty="0">
                <a:latin typeface="Constantia" panose="02030602050306030303"/>
              </a:rPr>
              <a:t>.</a:t>
            </a:r>
          </a:p>
          <a:p>
            <a:pPr>
              <a:spcAft>
                <a:spcPts val="600"/>
              </a:spcAft>
              <a:defRPr sz="1320">
                <a:solidFill>
                  <a:srgbClr val="F8F8F8"/>
                </a:solidFill>
                <a:latin typeface="Constantia" panose="02030602050306030303"/>
              </a:defRPr>
            </a:pPr>
            <a:r>
              <a:rPr dirty="0">
                <a:latin typeface="Constantia" panose="02030602050306030303"/>
              </a:rPr>
              <a:t>•  November shows an unusually low </a:t>
            </a:r>
            <a:r>
              <a:rPr b="0" i="0" dirty="0">
                <a:latin typeface="Arial" panose="020B0604020202020204"/>
              </a:rPr>
              <a:t>0.3K</a:t>
            </a:r>
            <a:r>
              <a:rPr dirty="0">
                <a:latin typeface="Constantia" panose="02030602050306030303"/>
              </a:rPr>
              <a:t> transactions and should be validated.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3620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8F8F8"/>
                </a:solidFill>
                <a:latin typeface="Constantia" panose="02030602050306030303"/>
              </a:rPr>
              <a:t>Together, the dashboards provide a consolidated view of lending performance, repayment risk and transaction activity.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4660" y="183321"/>
            <a:ext cx="6172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Bell MT" panose="02020503060305020303" pitchFamily="18" charset="0"/>
              </a:rPr>
              <a:t>Recommendations and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7703" y="724311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Loan Portfolio</a:t>
            </a:r>
            <a:endParaRPr lang="en-US" sz="24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8945" y="4752417"/>
            <a:ext cx="1115568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en-US" sz="20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Important observation is that delinquency is higher than the default rate. This suggests that overdue payments require closer monitoring before they develop into defaults.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XLG is the dominant product, Grade B has the highest loan count, 36-month maturity is more common, and 2018 has the highest yearly disbursement. 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94614" y="1448485"/>
            <a:ext cx="198065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Track disbursement trends</a:t>
            </a:r>
            <a:endParaRPr lang="en-US" sz="20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endParaRPr lang="en-US" sz="20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endParaRPr lang="en-US" sz="20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The high disbursement level in 2018 followed by a decline should be monitored for changing lending patterns.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929" y="1493004"/>
            <a:ext cx="1708435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Monitor delinquency closely</a:t>
            </a:r>
          </a:p>
          <a:p>
            <a:pPr lvl="0" algn="ctr"/>
            <a:endParaRPr lang="en-US" sz="16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endParaRPr lang="en-US" sz="16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 Delinquency (10.84%) is considerably higher than the default rate (1.56%).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0918" y="1452083"/>
            <a:ext cx="1793265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Strengthen repayment monitoring</a:t>
            </a:r>
          </a:p>
          <a:p>
            <a:pPr lvl="0" algn="ctr"/>
            <a:endParaRPr lang="en-US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endParaRPr lang="en-US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Focus on early identification and follow-up of overdue accounts.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81391" y="1585336"/>
            <a:ext cx="192490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Review product concentration</a:t>
            </a:r>
          </a:p>
          <a:p>
            <a:pPr lvl="0" algn="ctr"/>
            <a:endParaRPr lang="en-US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endParaRPr lang="en-US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endParaRPr lang="en-US" sz="16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 XLG represents the largest share of loans, so product-level risk should be monitored.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5415" y="1487108"/>
            <a:ext cx="1946831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Focus on portfolio segments</a:t>
            </a:r>
          </a:p>
          <a:p>
            <a:pPr lvl="0" algn="ctr"/>
            <a:endParaRPr lang="en-US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endParaRPr lang="en-US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Grade, age group, state and maturity analysis can support more targeted lending decisions. </a:t>
            </a:r>
          </a:p>
        </p:txBody>
      </p:sp>
      <p:sp>
        <p:nvSpPr>
          <p:cNvPr id="31" name="Rectangle: Rounded Corners 30"/>
          <p:cNvSpPr/>
          <p:nvPr/>
        </p:nvSpPr>
        <p:spPr>
          <a:xfrm>
            <a:off x="428276" y="1201748"/>
            <a:ext cx="2037338" cy="3517149"/>
          </a:xfrm>
          <a:prstGeom prst="round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: Rounded Corners 34"/>
          <p:cNvSpPr/>
          <p:nvPr/>
        </p:nvSpPr>
        <p:spPr>
          <a:xfrm>
            <a:off x="2563353" y="1190473"/>
            <a:ext cx="2037338" cy="3517149"/>
          </a:xfrm>
          <a:prstGeom prst="round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/>
          <p:cNvSpPr/>
          <p:nvPr/>
        </p:nvSpPr>
        <p:spPr>
          <a:xfrm>
            <a:off x="4747881" y="1211385"/>
            <a:ext cx="2091845" cy="3526530"/>
          </a:xfrm>
          <a:prstGeom prst="round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/>
          <p:cNvSpPr/>
          <p:nvPr/>
        </p:nvSpPr>
        <p:spPr>
          <a:xfrm>
            <a:off x="6966235" y="1201748"/>
            <a:ext cx="2037338" cy="3505874"/>
          </a:xfrm>
          <a:prstGeom prst="round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/>
          <p:cNvSpPr/>
          <p:nvPr/>
        </p:nvSpPr>
        <p:spPr>
          <a:xfrm>
            <a:off x="9184589" y="1190473"/>
            <a:ext cx="2119839" cy="3579257"/>
          </a:xfrm>
          <a:prstGeom prst="round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18160" y="684399"/>
            <a:ext cx="1115568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4660" y="108768"/>
            <a:ext cx="6172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Bell MT" panose="02020503060305020303" pitchFamily="18" charset="0"/>
              </a:rPr>
              <a:t>Recommendations and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4265" y="722717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Debit &amp; Credit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945" y="4892398"/>
            <a:ext cx="111556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en-US" sz="20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Analysis specifically shows credit of 127.60M, debit of 127.29M, net transaction amount of 318.12K, a credit-to-debit ratio of 1.0025, relatively stable monthly activity through October, and an unusual November drop.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4554" y="1260039"/>
            <a:ext cx="198065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Track</a:t>
            </a:r>
          </a:p>
          <a:p>
            <a:pPr lvl="0" algn="ctr"/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 account activity</a:t>
            </a:r>
          </a:p>
          <a:p>
            <a:pPr lvl="0" algn="ctr"/>
            <a:endParaRPr lang="en-US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endParaRPr lang="en-US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Account activity can be monitored along with transaction volume to identify changes in customer usage.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96" y="1303882"/>
            <a:ext cx="1708435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Maintain transaction balance</a:t>
            </a:r>
          </a:p>
          <a:p>
            <a:pPr lvl="0" algn="ctr"/>
            <a:endParaRPr lang="en-US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endParaRPr lang="en-US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Credit and debit values are closely balanced</a:t>
            </a: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34265" y="1270322"/>
            <a:ext cx="179326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Monitor transaction trends</a:t>
            </a:r>
          </a:p>
          <a:p>
            <a:pPr lvl="0" algn="ctr"/>
            <a:endParaRPr lang="en-US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endParaRPr lang="en-US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Monthly activity remains relatively consistent from January to October 2024.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0874" y="1303882"/>
            <a:ext cx="192490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Validate November </a:t>
            </a:r>
          </a:p>
          <a:p>
            <a:pPr lvl="0" algn="ctr"/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data</a:t>
            </a:r>
          </a:p>
          <a:p>
            <a:pPr lvl="0" algn="ctr"/>
            <a:endParaRPr lang="en-US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endParaRPr lang="en-US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The sharp drop in November transactions should be checked for data completeness or reporting issues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0272" y="1280580"/>
            <a:ext cx="194683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Monitor </a:t>
            </a:r>
          </a:p>
          <a:p>
            <a:pPr lvl="0" algn="ctr"/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branch </a:t>
            </a:r>
          </a:p>
          <a:p>
            <a:pPr lvl="0" algn="ctr"/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activity</a:t>
            </a:r>
            <a:endParaRPr lang="en-US" sz="20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endParaRPr lang="en-US" sz="20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endParaRPr lang="en-US" sz="20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lvl="0" algn="ctr"/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Branch transaction values are relatively even, allowing consistent comparison across branches.</a:t>
            </a:r>
          </a:p>
        </p:txBody>
      </p:sp>
      <p:sp>
        <p:nvSpPr>
          <p:cNvPr id="31" name="Rectangle: Rounded Corners 30"/>
          <p:cNvSpPr/>
          <p:nvPr/>
        </p:nvSpPr>
        <p:spPr>
          <a:xfrm>
            <a:off x="418945" y="1201748"/>
            <a:ext cx="2037338" cy="3517149"/>
          </a:xfrm>
          <a:prstGeom prst="round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/>
          <p:cNvSpPr/>
          <p:nvPr/>
        </p:nvSpPr>
        <p:spPr>
          <a:xfrm>
            <a:off x="2563353" y="1190473"/>
            <a:ext cx="2037338" cy="3567982"/>
          </a:xfrm>
          <a:prstGeom prst="round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/>
          <p:cNvSpPr/>
          <p:nvPr/>
        </p:nvSpPr>
        <p:spPr>
          <a:xfrm>
            <a:off x="4747881" y="1211384"/>
            <a:ext cx="2091845" cy="3547071"/>
          </a:xfrm>
          <a:prstGeom prst="round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/>
          <p:cNvSpPr/>
          <p:nvPr/>
        </p:nvSpPr>
        <p:spPr>
          <a:xfrm>
            <a:off x="6966235" y="1201748"/>
            <a:ext cx="2037338" cy="3567982"/>
          </a:xfrm>
          <a:prstGeom prst="round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/>
          <p:cNvSpPr/>
          <p:nvPr/>
        </p:nvSpPr>
        <p:spPr>
          <a:xfrm>
            <a:off x="9184589" y="1221384"/>
            <a:ext cx="2037338" cy="3548346"/>
          </a:xfrm>
          <a:prstGeom prst="round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8160" y="893751"/>
            <a:ext cx="11155680" cy="5129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</a:rPr>
              <a:t>The project provided a consolidated view of </a:t>
            </a:r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loan portfolio performance and banking transaction activity</a:t>
            </a: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</a:rPr>
              <a:t>Loan analysis highlighted </a:t>
            </a:r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portfolio volume, repayment performance, delinquency, default and lending patterns</a:t>
            </a: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</a:rPr>
              <a:t>Debit &amp; credit analysis showed </a:t>
            </a:r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closely balanced transaction flows and consistent branch activity</a:t>
            </a: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</a:rPr>
              <a:t>Interactive dashboards helped convert raw banking data into </a:t>
            </a:r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clear, KPI-driven insights</a:t>
            </a: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</a:rPr>
              <a:t>The analysis can support </a:t>
            </a:r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better monitoring, risk assessment and data-driven decision-making</a:t>
            </a: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</a:rPr>
              <a:t>Overall analysis supports these points, including the 65,536-loan portfolio, ₹733M funded amount, 10.84% delinquency, 1.56% default rate, balanced ₹127.60M credit and ₹127.29M debit, and the 1.0025 credit-to-debit ratio.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160" y="684399"/>
            <a:ext cx="1115568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4660" y="108768"/>
            <a:ext cx="6172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Bell MT" panose="02020503060305020303" pitchFamily="18" charset="0"/>
              </a:rPr>
              <a:t>Conclusion</a:t>
            </a:r>
            <a:endParaRPr lang="en-US" sz="3200" b="1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6A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1414"/>
                </a:solidFill>
                <a:latin typeface="Georgia" panose="02040502050405020303"/>
              </a:defRPr>
            </a:pPr>
            <a:r>
              <a:rPr dirty="0"/>
              <a:t>Challenges &amp;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0789920" cy="228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074920" cy="4526280"/>
          </a:xfrm>
          <a:prstGeom prst="roundRect">
            <a:avLst/>
          </a:prstGeom>
          <a:solidFill>
            <a:srgbClr val="36434D"/>
          </a:solidFill>
          <a:ln w="19050">
            <a:solidFill>
              <a:srgbClr val="97F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99032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Georgia" panose="02040502050405020303"/>
              </a:defRPr>
            </a:pPr>
            <a:r>
              <a:t>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92808"/>
            <a:ext cx="46177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Georgia" panose="02040502050405020303"/>
              </a:defRPr>
            </a:pPr>
            <a:r>
              <a:t>• Working with two banking datasets having different structures and fields.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Georgia" panose="02040502050405020303"/>
              </a:defRPr>
            </a:pPr>
            <a:r>
              <a:t>• Cleaning, organizing and preparing the data before analysis using Excel and SQL.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Georgia" panose="02040502050405020303"/>
              </a:defRPr>
            </a:pPr>
            <a:r>
              <a:t>• Creating KPI calculations and keeping results consistent across Excel, Tableau and Power BI.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Georgia" panose="02040502050405020303"/>
              </a:defRPr>
            </a:pPr>
            <a:r>
              <a:t>• Designing dashboards with clear KPI cards, charts, filters and readable labels.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Georgia" panose="02040502050405020303"/>
              </a:defRPr>
            </a:pPr>
            <a:r>
              <a:t>• Validating unusual transaction patterns, especially the sharp November 2024 drop.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34440"/>
            <a:ext cx="5074920" cy="4526280"/>
          </a:xfrm>
          <a:prstGeom prst="roundRect">
            <a:avLst/>
          </a:prstGeom>
          <a:solidFill>
            <a:srgbClr val="36434D"/>
          </a:solidFill>
          <a:ln w="19050">
            <a:solidFill>
              <a:srgbClr val="97F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399032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Georgia" panose="02040502050405020303"/>
              </a:defRPr>
            </a:pPr>
            <a:r>
              <a:t>Learnings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892808"/>
            <a:ext cx="46177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Georgia" panose="02040502050405020303"/>
              </a:defRPr>
            </a:pPr>
            <a:r>
              <a:t>• Improved practical skills in Excel, SQL, Tableau and Power BI.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Georgia" panose="02040502050405020303"/>
              </a:defRPr>
            </a:pPr>
            <a:r>
              <a:t>• Learned to create calculated KPIs and measures for banking analysis.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Georgia" panose="02040502050405020303"/>
              </a:defRPr>
            </a:pPr>
            <a:r>
              <a:t>• Learned how to use charts, slicers and filters to make dashboards interactive.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Georgia" panose="02040502050405020303"/>
              </a:defRPr>
            </a:pPr>
            <a:r>
              <a:t>• Understood the importance of checking data quality and unusual values before drawing conclusions.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Georgia" panose="02040502050405020303"/>
              </a:defRPr>
            </a:pPr>
            <a:r>
              <a:t>• Improved the ability to convert raw data into clear business insights and presentation-ready reports.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6429" y="5870448"/>
            <a:ext cx="97914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5F5"/>
                </a:solidFill>
                <a:latin typeface="Georgia" panose="02040502050405020303"/>
              </a:defRPr>
            </a:pPr>
            <a:r>
              <a:rPr sz="1400" dirty="0"/>
              <a:t>Key takeaway: Good data preparation + correct KPI calculations + clear visualization = reliable analysis.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02629" y="0"/>
            <a:ext cx="2518917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Georgia" panose="02040502050405020303"/>
              </a:defRPr>
            </a:pPr>
            <a:r>
              <a:rPr sz="3200" dirty="0">
                <a:latin typeface="Georgia" panose="02040502050405020303" pitchFamily="18" charset="0"/>
              </a:rPr>
              <a:t>Dashboards </a:t>
            </a:r>
          </a:p>
        </p:txBody>
      </p:sp>
      <p:sp>
        <p:nvSpPr>
          <p:cNvPr id="13" name="Heading Line"/>
          <p:cNvSpPr/>
          <p:nvPr/>
        </p:nvSpPr>
        <p:spPr>
          <a:xfrm>
            <a:off x="502920" y="544197"/>
            <a:ext cx="11109960" cy="16459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9825D4-B3F9-C0D5-7198-EE4A24E09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10" y="560656"/>
            <a:ext cx="11579289" cy="616178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0"/>
            <a:ext cx="12192000" cy="6858000"/>
          </a:xfrm>
          <a:prstGeom prst="rect">
            <a:avLst/>
          </a:prstGeom>
        </p:spPr>
      </p:pic>
      <p:sp>
        <p:nvSpPr>
          <p:cNvPr id="13" name="Heading Line"/>
          <p:cNvSpPr/>
          <p:nvPr/>
        </p:nvSpPr>
        <p:spPr>
          <a:xfrm>
            <a:off x="502920" y="749808"/>
            <a:ext cx="11109960" cy="16459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13829" y="135331"/>
            <a:ext cx="760780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dirty="0">
                <a:latin typeface="Bell MT" panose="02020503060305020303" pitchFamily="18" charset="0"/>
              </a:rPr>
              <a:t>DEBIT &amp; CREDIT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B6B055-903B-B7F9-A5DC-5ABC8871EA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5"/>
          <a:stretch>
            <a:fillRect/>
          </a:stretch>
        </p:blipFill>
        <p:spPr>
          <a:xfrm>
            <a:off x="579120" y="809271"/>
            <a:ext cx="11033760" cy="58434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Heading Line"/>
          <p:cNvSpPr/>
          <p:nvPr/>
        </p:nvSpPr>
        <p:spPr>
          <a:xfrm>
            <a:off x="502920" y="749808"/>
            <a:ext cx="11109960" cy="16459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1269" y="215456"/>
            <a:ext cx="2816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Bell MT" panose="02020503060305020303" pitchFamily="18" charset="0"/>
                <a:cs typeface="Times New Roman" panose="02020603050405020304" pitchFamily="18" charset="0"/>
              </a:rPr>
              <a:t>LOAN </a:t>
            </a:r>
            <a:r>
              <a:rPr lang="en-IN" sz="3200" b="1" dirty="0">
                <a:latin typeface="Georgia" panose="02040502050405020303" pitchFamily="18" charset="0"/>
                <a:cs typeface="Times New Roman" panose="02020603050405020304" pitchFamily="18" charset="0"/>
              </a:rPr>
              <a:t>KPI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3A3408-46A2-EB21-BA7C-1C4B0BCEA1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978" b="14087"/>
          <a:stretch>
            <a:fillRect/>
          </a:stretch>
        </p:blipFill>
        <p:spPr>
          <a:xfrm>
            <a:off x="284023" y="1554031"/>
            <a:ext cx="5482295" cy="21040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9747ED-16C1-D15C-833A-7FD7CA58C8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01" r="12558"/>
          <a:stretch>
            <a:fillRect/>
          </a:stretch>
        </p:blipFill>
        <p:spPr>
          <a:xfrm>
            <a:off x="284023" y="4350877"/>
            <a:ext cx="5482295" cy="21659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EDAC8A-5218-7189-622E-29C3CF301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337" y="1554031"/>
            <a:ext cx="5030381" cy="21040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73F325-A437-15E6-5398-94E12EAF79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0055" y="4350877"/>
            <a:ext cx="4993664" cy="21659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B49F7D-C94C-43D2-D57A-82D9E2C764FA}"/>
              </a:ext>
            </a:extLst>
          </p:cNvPr>
          <p:cNvSpPr txBox="1"/>
          <p:nvPr/>
        </p:nvSpPr>
        <p:spPr>
          <a:xfrm>
            <a:off x="2823345" y="753478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solidFill>
                  <a:schemeClr val="bg1"/>
                </a:solidFill>
                <a:latin typeface="Bell MT" panose="02020503060305020303" pitchFamily="18" charset="0"/>
              </a:rPr>
              <a:t>Financial 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D34FB1-4FEC-7482-0011-16699224E464}"/>
              </a:ext>
            </a:extLst>
          </p:cNvPr>
          <p:cNvSpPr txBox="1"/>
          <p:nvPr/>
        </p:nvSpPr>
        <p:spPr>
          <a:xfrm>
            <a:off x="284023" y="1215477"/>
            <a:ext cx="26924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Bell MT" panose="02020503060305020303" pitchFamily="18" charset="0"/>
              </a:rPr>
              <a:t>Main financial KPI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101209-F34C-6E2B-8AC4-A841E517371E}"/>
              </a:ext>
            </a:extLst>
          </p:cNvPr>
          <p:cNvSpPr txBox="1"/>
          <p:nvPr/>
        </p:nvSpPr>
        <p:spPr>
          <a:xfrm>
            <a:off x="146371" y="3835223"/>
            <a:ext cx="24405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Bell MT" panose="02020503060305020303" pitchFamily="18" charset="0"/>
              </a:rPr>
              <a:t>Overall loan volume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BC2B1B-544E-F790-42F6-DC0AD71E662F}"/>
              </a:ext>
            </a:extLst>
          </p:cNvPr>
          <p:cNvSpPr txBox="1"/>
          <p:nvPr/>
        </p:nvSpPr>
        <p:spPr>
          <a:xfrm>
            <a:off x="6199833" y="1238023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Bell MT" panose="02020503060305020303" pitchFamily="18" charset="0"/>
              </a:rPr>
              <a:t>Important business/financial metric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270B28-4B75-A399-8881-1B873F0254C1}"/>
              </a:ext>
            </a:extLst>
          </p:cNvPr>
          <p:cNvSpPr txBox="1"/>
          <p:nvPr/>
        </p:nvSpPr>
        <p:spPr>
          <a:xfrm>
            <a:off x="6181533" y="3903758"/>
            <a:ext cx="28140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Bell MT" panose="02020503060305020303" pitchFamily="18" charset="0"/>
              </a:rPr>
              <a:t>Interest earned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E99BF0-F9C2-9401-6FD9-F9DE526B003F}"/>
              </a:ext>
            </a:extLst>
          </p:cNvPr>
          <p:cNvSpPr txBox="1"/>
          <p:nvPr/>
        </p:nvSpPr>
        <p:spPr>
          <a:xfrm>
            <a:off x="2787520" y="77498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solidFill>
                  <a:schemeClr val="bg1"/>
                </a:solidFill>
                <a:latin typeface="Bell MT" panose="02020503060305020303" pitchFamily="18" charset="0"/>
              </a:rPr>
              <a:t>Business &amp; Trend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0CF60F-9CD6-729C-6142-4732B50E57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799"/>
          <a:stretch>
            <a:fillRect/>
          </a:stretch>
        </p:blipFill>
        <p:spPr>
          <a:xfrm>
            <a:off x="341099" y="1199466"/>
            <a:ext cx="5263288" cy="21041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605A31-5A6E-3D65-4602-D4D6D3475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341" y="1199466"/>
            <a:ext cx="5349704" cy="21041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3943BD-3B2A-B131-41B8-612C0D4B9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5072" y="3851823"/>
            <a:ext cx="5258567" cy="25451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28E3032-8BED-C61C-112D-33A96DD5784C}"/>
              </a:ext>
            </a:extLst>
          </p:cNvPr>
          <p:cNvSpPr txBox="1"/>
          <p:nvPr/>
        </p:nvSpPr>
        <p:spPr>
          <a:xfrm>
            <a:off x="328715" y="752636"/>
            <a:ext cx="3547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Bell MT" panose="02020503060305020303" pitchFamily="18" charset="0"/>
              </a:rPr>
              <a:t>Branch-Wise Performance</a:t>
            </a:r>
            <a:endParaRPr lang="en-US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3C77A8-4696-369C-5284-6E61D15B8BC0}"/>
              </a:ext>
            </a:extLst>
          </p:cNvPr>
          <p:cNvSpPr txBox="1"/>
          <p:nvPr/>
        </p:nvSpPr>
        <p:spPr>
          <a:xfrm>
            <a:off x="6223341" y="785384"/>
            <a:ext cx="2276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State-Wise Loan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E344BA-0B51-B1A5-D115-77010A3F5586}"/>
              </a:ext>
            </a:extLst>
          </p:cNvPr>
          <p:cNvSpPr txBox="1"/>
          <p:nvPr/>
        </p:nvSpPr>
        <p:spPr>
          <a:xfrm>
            <a:off x="4566418" y="3429000"/>
            <a:ext cx="2875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Disbursement Trend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E94E8-FEC6-0741-618F-C4370B15D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6FF797AE-18EB-5693-C17E-880BBE3B0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D7B966-2A7B-4BA9-5FDE-E36534ACF5E5}"/>
              </a:ext>
            </a:extLst>
          </p:cNvPr>
          <p:cNvSpPr txBox="1"/>
          <p:nvPr/>
        </p:nvSpPr>
        <p:spPr>
          <a:xfrm>
            <a:off x="6340151" y="3415880"/>
            <a:ext cx="23816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 </a:t>
            </a:r>
          </a:p>
          <a:p>
            <a:pPr lvl="0"/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Default Loan Rate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512559-5887-A536-2FD3-AD87946B5FE9}"/>
              </a:ext>
            </a:extLst>
          </p:cNvPr>
          <p:cNvSpPr txBox="1"/>
          <p:nvPr/>
        </p:nvSpPr>
        <p:spPr>
          <a:xfrm>
            <a:off x="3009900" y="111303"/>
            <a:ext cx="6172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Georgia" panose="02040502050405020303" pitchFamily="18" charset="0"/>
              </a:rPr>
              <a:t>Risk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24A7A2-5F49-4416-5B94-D153F55C2431}"/>
              </a:ext>
            </a:extLst>
          </p:cNvPr>
          <p:cNvSpPr txBox="1"/>
          <p:nvPr/>
        </p:nvSpPr>
        <p:spPr>
          <a:xfrm>
            <a:off x="828136" y="3757508"/>
            <a:ext cx="4023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latin typeface="Bell MT" panose="02020503060305020303" pitchFamily="18" charset="0"/>
              </a:rPr>
              <a:t>Default Loan Count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D58482-C093-BB16-A79A-536FC447DC53}"/>
              </a:ext>
            </a:extLst>
          </p:cNvPr>
          <p:cNvSpPr txBox="1"/>
          <p:nvPr/>
        </p:nvSpPr>
        <p:spPr>
          <a:xfrm>
            <a:off x="828136" y="738146"/>
            <a:ext cx="3389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Bell MT" panose="02020503060305020303" pitchFamily="18" charset="0"/>
              </a:rPr>
              <a:t>Delinquent Client Count</a:t>
            </a:r>
            <a:endParaRPr lang="en-US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45425B-B8CF-C281-C559-4FC24CF464D5}"/>
              </a:ext>
            </a:extLst>
          </p:cNvPr>
          <p:cNvSpPr txBox="1"/>
          <p:nvPr/>
        </p:nvSpPr>
        <p:spPr>
          <a:xfrm>
            <a:off x="6471400" y="758900"/>
            <a:ext cx="3072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800" b="1" dirty="0">
                <a:solidFill>
                  <a:schemeClr val="bg1"/>
                </a:solidFill>
                <a:latin typeface="Bell MT" panose="02020503060305020303" pitchFamily="18" charset="0"/>
              </a:rPr>
              <a:t>Delinquent Loan Rate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54AA8DA-94A9-129A-36F2-C49360B4D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35" y="4084155"/>
            <a:ext cx="4941873" cy="25148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240527-5634-A8C4-43B2-AE3DE7108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63" y="1128231"/>
            <a:ext cx="4945546" cy="245897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AD8C333-7F1C-386A-7692-68DF24F45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721" y="1128232"/>
            <a:ext cx="4848143" cy="245897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BF2589F-7FD1-221B-425D-2508540850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1400" y="4084155"/>
            <a:ext cx="4892464" cy="25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801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5FE94-FC69-3BCB-97FB-6761B8CCA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DEFD0E8A-3FA6-6878-1F58-3E63E75E1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6017E6-5268-3985-91E5-4FEC55EBB066}"/>
              </a:ext>
            </a:extLst>
          </p:cNvPr>
          <p:cNvCxnSpPr/>
          <p:nvPr/>
        </p:nvCxnSpPr>
        <p:spPr>
          <a:xfrm>
            <a:off x="274320" y="710806"/>
            <a:ext cx="1143914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12DC5BF-0D17-7151-A342-A16BEF952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70318"/>
            <a:ext cx="3140684" cy="2033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F7E3A2-17C4-3715-8C45-BECFAC03C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4411" y="1270319"/>
            <a:ext cx="2699911" cy="20337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AF9263-FC53-3BC6-90A6-575332D0E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428999"/>
            <a:ext cx="5920002" cy="23326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72BED6-A78D-074B-065D-AEE285A8BB38}"/>
              </a:ext>
            </a:extLst>
          </p:cNvPr>
          <p:cNvSpPr txBox="1"/>
          <p:nvPr/>
        </p:nvSpPr>
        <p:spPr>
          <a:xfrm>
            <a:off x="274320" y="756196"/>
            <a:ext cx="2233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Financial Summary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CB777-229F-1568-AFF8-D1187A3A9CEA}"/>
              </a:ext>
            </a:extLst>
          </p:cNvPr>
          <p:cNvSpPr txBox="1"/>
          <p:nvPr/>
        </p:nvSpPr>
        <p:spPr>
          <a:xfrm>
            <a:off x="6320463" y="786381"/>
            <a:ext cx="3514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Branch &amp; Bank Analysis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04E03C5-185D-339A-9A48-3722A7594B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565" y="1231286"/>
            <a:ext cx="5297899" cy="45304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831B1A-538C-2950-EF3C-48B4FEDAEAA4}"/>
              </a:ext>
            </a:extLst>
          </p:cNvPr>
          <p:cNvSpPr txBox="1"/>
          <p:nvPr/>
        </p:nvSpPr>
        <p:spPr>
          <a:xfrm>
            <a:off x="2919353" y="134975"/>
            <a:ext cx="6145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Georgia" panose="02040502050405020303" pitchFamily="18" charset="0"/>
              </a:rPr>
              <a:t>Debit And Credit KPI</a:t>
            </a:r>
          </a:p>
        </p:txBody>
      </p:sp>
    </p:spTree>
    <p:extLst>
      <p:ext uri="{BB962C8B-B14F-4D97-AF65-F5344CB8AC3E}">
        <p14:creationId xmlns:p14="http://schemas.microsoft.com/office/powerpoint/2010/main" val="1057338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32DED-46E3-ED01-17F4-C62EB7B0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CF132E18-052C-6F5C-A06B-C209D3955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4C2890-124C-131A-7B28-544C785DF3FC}"/>
              </a:ext>
            </a:extLst>
          </p:cNvPr>
          <p:cNvSpPr txBox="1"/>
          <p:nvPr/>
        </p:nvSpPr>
        <p:spPr>
          <a:xfrm>
            <a:off x="3133530" y="43592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Transaction Activity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4F32CD-4EBF-31F4-DF86-D8F843354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436" y="3918398"/>
            <a:ext cx="8618522" cy="27217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B02FB38-E3AA-4DA6-0BBB-F7F66FD263C4}"/>
              </a:ext>
            </a:extLst>
          </p:cNvPr>
          <p:cNvSpPr txBox="1"/>
          <p:nvPr/>
        </p:nvSpPr>
        <p:spPr>
          <a:xfrm>
            <a:off x="4315784" y="3429000"/>
            <a:ext cx="4023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Account Activity Ratio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1CC60-E652-A22D-BDCB-4C3D2448FF81}"/>
              </a:ext>
            </a:extLst>
          </p:cNvPr>
          <p:cNvSpPr txBox="1"/>
          <p:nvPr/>
        </p:nvSpPr>
        <p:spPr>
          <a:xfrm>
            <a:off x="3889152" y="512202"/>
            <a:ext cx="4854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Transactions per Day/Week/Month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F47DBED-CC09-AA35-7C4A-EB6986D97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2" y="1121804"/>
            <a:ext cx="3574574" cy="21871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918121B-2FCA-F501-258D-9FFCD1B43F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0695"/>
          <a:stretch>
            <a:fillRect/>
          </a:stretch>
        </p:blipFill>
        <p:spPr>
          <a:xfrm>
            <a:off x="4315784" y="1120645"/>
            <a:ext cx="3574575" cy="21871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6BA2B18-E6EC-0C2F-7F81-B0483779F5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2765" y="1120645"/>
            <a:ext cx="4023827" cy="218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74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0B230-C14E-5762-8E36-C632BF730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1A2E875C-B129-927D-E60B-F7D101422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CD4C18-DA74-E1DE-3928-CBBABB1D20AB}"/>
              </a:ext>
            </a:extLst>
          </p:cNvPr>
          <p:cNvSpPr/>
          <p:nvPr/>
        </p:nvSpPr>
        <p:spPr>
          <a:xfrm>
            <a:off x="2062066" y="2239547"/>
            <a:ext cx="7707086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60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rPr>
              <a:t>Thank you 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83B3AC-127E-7E15-BC9E-BDF43FAC203E}"/>
              </a:ext>
            </a:extLst>
          </p:cNvPr>
          <p:cNvSpPr/>
          <p:nvPr/>
        </p:nvSpPr>
        <p:spPr>
          <a:xfrm>
            <a:off x="2865885" y="3602791"/>
            <a:ext cx="6460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32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rPr>
              <a:t>For your Time and Attention</a:t>
            </a:r>
            <a:endParaRPr lang="en-US" sz="32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1771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1187</TotalTime>
  <Words>2532</Words>
  <Application>Microsoft Office PowerPoint</Application>
  <PresentationFormat>Widescreen</PresentationFormat>
  <Paragraphs>508</Paragraphs>
  <Slides>30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Constantia</vt:lpstr>
      <vt:lpstr>Arial Black</vt:lpstr>
      <vt:lpstr>Georgia</vt:lpstr>
      <vt:lpstr>Bell MT</vt:lpstr>
      <vt:lpstr>Calibri</vt:lpstr>
      <vt:lpstr>Calibri Light</vt:lpstr>
      <vt:lpstr>Wingdings</vt:lpstr>
      <vt:lpstr>Arial,Sans-Serif</vt:lpstr>
      <vt:lpstr>Arial</vt:lpstr>
      <vt:lpstr>Bodoni MT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RADHIKA</dc:creator>
  <cp:lastModifiedBy>Manoj G</cp:lastModifiedBy>
  <cp:revision>1350</cp:revision>
  <dcterms:created xsi:type="dcterms:W3CDTF">2026-10-01T09:25:00Z</dcterms:created>
  <dcterms:modified xsi:type="dcterms:W3CDTF">2026-10-07T08:12:28Z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9F9C9D515E054EB4B2AFAA4356D4E8B9_12</vt:lpwstr>
  </property>
  <property fmtid="{D5CDD505-2E9C-101B-9397-08002B2CF9AE}" pid="3" name="KSOProductBuildVer">
    <vt:lpwstr>1033-12.1.0.28485</vt:lpwstr>
  </property>
</Properties>
</file>